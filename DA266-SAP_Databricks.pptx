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69" r:id="rId12"/>
  </p:sldMasterIdLst>
  <p:notesMasterIdLst>
    <p:notesMasterId r:id="rId23"/>
  </p:notesMasterIdLst>
  <p:handoutMasterIdLst>
    <p:handoutMasterId r:id="rId24"/>
  </p:handoutMasterIdLst>
  <p:sldIdLst>
    <p:sldId id="257" r:id="rId13"/>
    <p:sldId id="2147483610" r:id="rId14"/>
    <p:sldId id="358" r:id="rId15"/>
    <p:sldId id="2146849418" r:id="rId16"/>
    <p:sldId id="2147483646" r:id="rId17"/>
    <p:sldId id="2147483647" r:id="rId18"/>
    <p:sldId id="2147483257" r:id="rId19"/>
    <p:sldId id="2147483281" r:id="rId20"/>
    <p:sldId id="2147483280" r:id="rId21"/>
    <p:sldId id="2147483645" r:id="rId22"/>
  </p:sldIdLst>
  <p:sldSz cx="12195175" cy="6858000"/>
  <p:notesSz cx="6858000" cy="9144000"/>
  <p:embeddedFontLst>
    <p:embeddedFont>
      <p:font typeface="72" panose="020B0503030000000003" pitchFamily="34" charset="0"/>
      <p:regular r:id="rId25"/>
      <p:bold r:id="rId26"/>
      <p:italic r:id="rId27"/>
      <p:boldItalic r:id="rId28"/>
    </p:embeddedFont>
    <p:embeddedFont>
      <p:font typeface="72 Brand" panose="020B0504030603020204" pitchFamily="34" charset="0"/>
      <p:regular r:id="rId29"/>
      <p:bold r:id="rId30"/>
      <p:italic r:id="rId31"/>
      <p:boldItalic r:id="rId32"/>
    </p:embeddedFont>
    <p:embeddedFont>
      <p:font typeface="72 Brand Light" panose="020B0304030603020204" pitchFamily="34" charset="0"/>
      <p:regular r:id="rId33"/>
      <p:italic r:id="rId34"/>
    </p:embeddedFont>
    <p:embeddedFont>
      <p:font typeface="72 Brand Medium" panose="020B0504030603020204" pitchFamily="34" charset="0"/>
      <p:regular r:id="rId35"/>
      <p:italic r:id="rId36"/>
    </p:embeddedFont>
    <p:embeddedFont>
      <p:font typeface="Cascadia Code" panose="020B0609020000020004" pitchFamily="34" charset="0"/>
      <p:regular r:id="rId37"/>
      <p:bold r:id="rId38"/>
      <p:italic r:id="rId39"/>
      <p:boldItalic r:id="rId40"/>
    </p:embeddedFont>
  </p:embeddedFontLst>
  <p:custDataLst>
    <p:tags r:id="rId41"/>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462E20E-04A7-47C7-A4DC-A085056ACD98}">
          <p14:sldIdLst>
            <p14:sldId id="257"/>
          </p14:sldIdLst>
        </p14:section>
        <p14:section name="01" id="{B52457D7-46D8-46DD-9761-0526A4664199}">
          <p14:sldIdLst>
            <p14:sldId id="2147483610"/>
            <p14:sldId id="358"/>
            <p14:sldId id="2146849418"/>
            <p14:sldId id="2147483646"/>
            <p14:sldId id="2147483647"/>
          </p14:sldIdLst>
        </p14:section>
        <p14:section name="The end" id="{1DF81D1B-E560-4509-9A0E-92E24517CF2C}">
          <p14:sldIdLst>
            <p14:sldId id="2147483257"/>
            <p14:sldId id="2147483281"/>
          </p14:sldIdLst>
        </p14:section>
        <p14:section name="Appendix" id="{6720FBC2-226F-4A80-BCB7-7186868EF62D}">
          <p14:sldIdLst>
            <p14:sldId id="2147483280"/>
            <p14:sldId id="2147483645"/>
          </p14:sldIdLst>
        </p14:section>
      </p14:sectionLst>
    </p:ext>
    <p:ext uri="{EFAFB233-063F-42B5-8137-9DF3F51BA10A}">
      <p15:sldGuideLst xmlns:p15="http://schemas.microsoft.com/office/powerpoint/2012/main">
        <p15:guide id="2" orient="horz" pos="3294" userDrawn="1">
          <p15:clr>
            <a:srgbClr val="A4A3A4"/>
          </p15:clr>
        </p15:guide>
        <p15:guide id="3"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75DE60F-F061-9186-C55D-060D315FF4C4}" name="Feng, Carol" initials="CF" userId="S::carol.feng01@sap.com::3fc581bf-0d26-4965-807f-00fa63ae760c" providerId="AD"/>
  <p188:author id="{C5D0E630-1A2A-F72D-7B74-C1CE40368F28}" name="MAGI, Roosi" initials="RM" userId="S::roosi.magi@sap.com::513549ca-9f90-4c15-ac0f-a891c6aa6204" providerId="AD"/>
  <p188:author id="{B6EC8343-9CFC-03A5-80FF-91AD473335E8}" name="Hughes, Jamie" initials="JH" userId="S::jamie.hughes@sap.com::36cfe3be-5d77-46c3-bb00-4a5421f3e788" providerId="AD"/>
  <p188:author id="{812B9A51-0C32-A8A4-6136-9EB477DD1602}" name="Braukmueller, Nikola Cornelia" initials="" userId="S::nikola.cornelia.braukmueller@sap.com::f884be43-0225-4681-98f8-c62db7936db6" providerId="AD"/>
  <p188:author id="{5770498A-2AA0-5C4E-2767-32307344AD47}" name="Meagher, Jason" initials="MJ" userId="S::jason.meagher@sap.com::8df69b86-b6d1-4eb4-ac27-953ba6154118" providerId="AD"/>
  <p188:author id="{8E47AE91-05DA-3335-FDD3-C3CF0F81A1F0}" name="Boeckling, Martin" initials="MB" userId="S::martin.boeckling@sap.com::593ab6ee-281c-483d-adb1-30385b8475bf" providerId="AD"/>
  <p188:author id="{3E1F1EA8-0023-6149-7F74-48C7ACAC4164}" name="Sauer, Klaus-Peter" initials="SKP" userId="S::klaus-peter.sauer@sap.com::9b17477d-5ea8-480c-a985-14628470c759" providerId="AD"/>
  <p188:author id="{A0D2B7AF-1744-6A17-5999-E465F81803B5}" name="Bitz, Heidi" initials="HB" userId="S::heidi.bitz@sap.com::9967a29f-0951-4f19-aaf9-5b3fc039a285" providerId="AD"/>
  <p188:author id="{3485D6CA-50CC-E8D7-323C-D71AE82C9848}" name="Tran, San" initials="ST" userId="S::san.tran@sap.com::fa63ae62-cdfd-409a-b412-3279e3c74af5" providerId="AD"/>
  <p188:author id="{63B4E3E9-1F0E-BEB1-68BB-990E46E861E2}" name="Doreen Peters | ahorn. gmbh" initials="DP" userId="S::doreen@ahorngmbh.de::0c6c1e55-9a7d-45af-ad92-0b8be940a904" providerId="AD"/>
  <p188:author id="{36CCD9F5-6E60-7A73-1DCF-5563810D4955}" name="Maguire, Erin Rose (external - Service)" initials="MS" userId="S::erin.maguire@sap.com::31cd2fe5-b7ee-43ed-a3b6-34dde073ece3" providerId="AD"/>
  <p188:author id="{C20625FD-0F39-6CE0-C5B3-6DB553A9E917}" name="Krueger, Imke (external - Service)" initials="IK" userId="S::imke.krueger@sap.com::7a718e30-7757-4c5f-a851-fb217b5d2b3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4A"/>
    <a:srgbClr val="EBF8FF"/>
    <a:srgbClr val="FFFFFF"/>
    <a:srgbClr val="FF8AF0"/>
    <a:srgbClr val="02414C"/>
    <a:srgbClr val="2CE0BF"/>
    <a:srgbClr val="00278A"/>
    <a:srgbClr val="016EFB"/>
    <a:srgbClr val="FFB300"/>
    <a:srgbClr val="D3B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84C48-A3F8-7EB2-1120-659A0C720CA9}" v="110" dt="2025-11-05T08:20:39.05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18"/>
    <p:restoredTop sz="94715"/>
  </p:normalViewPr>
  <p:slideViewPr>
    <p:cSldViewPr snapToGrid="0">
      <p:cViewPr varScale="1">
        <p:scale>
          <a:sx n="118" d="100"/>
          <a:sy n="118" d="100"/>
        </p:scale>
        <p:origin x="488" y="208"/>
      </p:cViewPr>
      <p:guideLst>
        <p:guide orient="horz" pos="3294"/>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9.xml"/><Relationship Id="rId34" Type="http://schemas.openxmlformats.org/officeDocument/2006/relationships/font" Target="fonts/font10.fntdata"/><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font" Target="fonts/font7.fntdata"/><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viewProps" Target="viewProps.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microsoft.com/office/2015/10/relationships/revisionInfo" Target="revisionInfo.xml"/><Relationship Id="rId20" Type="http://schemas.openxmlformats.org/officeDocument/2006/relationships/slide" Target="slides/slide8.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045B-0C38-8189-0500-D364F1AE1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836D6-1F21-F05A-DA0E-64C0E8F1E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5193C-0ADA-44ED-D4FD-4D1AD09CD6CA}"/>
              </a:ext>
            </a:extLst>
          </p:cNvPr>
          <p:cNvSpPr>
            <a:spLocks noGrp="1"/>
          </p:cNvSpPr>
          <p:nvPr>
            <p:ph type="body" idx="1"/>
          </p:nvPr>
        </p:nvSpPr>
        <p:spPr/>
        <p:txBody>
          <a:bodyPr/>
          <a:lstStyle/>
          <a:p>
            <a:r>
              <a:rPr lang="en-US"/>
              <a:t>paint the picture how do they do --&gt; business data cloud </a:t>
            </a:r>
            <a:br>
              <a:rPr lang="en-US"/>
            </a:br>
            <a:br>
              <a:rPr lang="en-US"/>
            </a:br>
            <a:r>
              <a:rPr lang="en-US"/>
              <a:t>replication flow change to Delta share </a:t>
            </a:r>
            <a:br>
              <a:rPr lang="en-US"/>
            </a:br>
            <a:br>
              <a:rPr lang="en-US"/>
            </a:br>
            <a:r>
              <a:rPr lang="en-US"/>
              <a:t>No need to prepare the data </a:t>
            </a:r>
            <a:endParaRPr lang="en-DE"/>
          </a:p>
        </p:txBody>
      </p:sp>
      <p:sp>
        <p:nvSpPr>
          <p:cNvPr id="4" name="Slide Number Placeholder 3">
            <a:extLst>
              <a:ext uri="{FF2B5EF4-FFF2-40B4-BE49-F238E27FC236}">
                <a16:creationId xmlns:a16="http://schemas.microsoft.com/office/drawing/2014/main" id="{AE7E578B-6675-DC6D-1100-0F191B53ACEF}"/>
              </a:ext>
            </a:extLst>
          </p:cNvPr>
          <p:cNvSpPr>
            <a:spLocks noGrp="1"/>
          </p:cNvSpPr>
          <p:nvPr>
            <p:ph type="sldNum" sz="quarter" idx="5"/>
          </p:nvPr>
        </p:nvSpPr>
        <p:spPr/>
        <p:txBody>
          <a:bodyPr/>
          <a:lstStyle/>
          <a:p>
            <a:fld id="{7D8C2C35-2B8A-446E-BEC0-FD36716C29AC}" type="slidenum">
              <a:rPr lang="en-DE" smtClean="0"/>
              <a:pPr/>
              <a:t>2</a:t>
            </a:fld>
            <a:endParaRPr lang="en-DE"/>
          </a:p>
        </p:txBody>
      </p:sp>
    </p:spTree>
    <p:extLst>
      <p:ext uri="{BB962C8B-B14F-4D97-AF65-F5344CB8AC3E}">
        <p14:creationId xmlns:p14="http://schemas.microsoft.com/office/powerpoint/2010/main" val="137835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KP</a:t>
            </a:r>
          </a:p>
        </p:txBody>
      </p:sp>
    </p:spTree>
    <p:extLst>
      <p:ext uri="{BB962C8B-B14F-4D97-AF65-F5344CB8AC3E}">
        <p14:creationId xmlns:p14="http://schemas.microsoft.com/office/powerpoint/2010/main" val="22753628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Dark Blue">
    <p:bg>
      <p:bgPr>
        <a:solidFill>
          <a:srgbClr val="00144A"/>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pic>
        <p:nvPicPr>
          <p:cNvPr id="6" name="object 10">
            <a:extLst>
              <a:ext uri="{FF2B5EF4-FFF2-40B4-BE49-F238E27FC236}">
                <a16:creationId xmlns:a16="http://schemas.microsoft.com/office/drawing/2014/main" id="{C6B76F5E-4398-BD16-B5D6-62F9A27FF810}"/>
              </a:ext>
            </a:extLst>
          </p:cNvPr>
          <p:cNvPicPr/>
          <p:nvPr userDrawn="1"/>
        </p:nvPicPr>
        <p:blipFill>
          <a:blip r:embed="rId3"/>
          <a:srcRect/>
          <a:stretch/>
        </p:blipFill>
        <p:spPr>
          <a:xfrm>
            <a:off x="293337" y="284307"/>
            <a:ext cx="1516538" cy="214363"/>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9" name="Picture 8" descr="A black and white logo&#10;&#10;AI-generated content may be incorrect.">
            <a:extLst>
              <a:ext uri="{FF2B5EF4-FFF2-40B4-BE49-F238E27FC236}">
                <a16:creationId xmlns:a16="http://schemas.microsoft.com/office/drawing/2014/main" id="{3805DC2B-6B5F-D1FB-BFD0-EF9A7EC4DD86}"/>
              </a:ext>
            </a:extLst>
          </p:cNvPr>
          <p:cNvPicPr>
            <a:picLocks noChangeAspect="1"/>
          </p:cNvPicPr>
          <p:nvPr userDrawn="1"/>
        </p:nvPicPr>
        <p:blipFill>
          <a:blip r:embed="rId4"/>
          <a:stretch>
            <a:fillRect/>
          </a:stretch>
        </p:blipFill>
        <p:spPr>
          <a:xfrm>
            <a:off x="282575" y="6213693"/>
            <a:ext cx="1769400" cy="360000"/>
          </a:xfrm>
          <a:prstGeom prst="rect">
            <a:avLst/>
          </a:prstGeom>
        </p:spPr>
      </p:pic>
      <p:pic>
        <p:nvPicPr>
          <p:cNvPr id="7" name="Grafik 6" descr="Ein Bild, das Grafiken, Screenshot, Farbigkeit, Grafikdesign enthält.&#10;&#10;KI-generierte Inhalte können fehlerhaft sein.">
            <a:extLst>
              <a:ext uri="{FF2B5EF4-FFF2-40B4-BE49-F238E27FC236}">
                <a16:creationId xmlns:a16="http://schemas.microsoft.com/office/drawing/2014/main" id="{DA354FE0-E933-A50A-AB72-1D22C950D781}"/>
              </a:ext>
            </a:extLst>
          </p:cNvPr>
          <p:cNvPicPr>
            <a:picLocks noChangeAspect="1"/>
          </p:cNvPicPr>
          <p:nvPr userDrawn="1"/>
        </p:nvPicPr>
        <p:blipFill>
          <a:blip r:embed="rId5"/>
          <a:stretch>
            <a:fillRect/>
          </a:stretch>
        </p:blipFill>
        <p:spPr>
          <a:xfrm>
            <a:off x="5126806" y="1301192"/>
            <a:ext cx="6366344" cy="3671500"/>
          </a:xfrm>
          <a:prstGeom prst="rect">
            <a:avLst/>
          </a:prstGeom>
        </p:spPr>
      </p:pic>
    </p:spTree>
    <p:extLst>
      <p:ext uri="{BB962C8B-B14F-4D97-AF65-F5344CB8AC3E}">
        <p14:creationId xmlns:p14="http://schemas.microsoft.com/office/powerpoint/2010/main" val="2723457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a:t>Speaker Name, SAP</a:t>
            </a:r>
          </a:p>
          <a:p>
            <a:pPr marL="0" marR="0" lvl="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2"/>
          <a:srcRect/>
          <a:stretch/>
        </p:blipFill>
        <p:spPr>
          <a:xfrm>
            <a:off x="282575" y="6213693"/>
            <a:ext cx="1769400" cy="360000"/>
          </a:xfrm>
          <a:prstGeom prst="rect">
            <a:avLst/>
          </a:prstGeom>
        </p:spPr>
      </p:pic>
      <p:pic>
        <p:nvPicPr>
          <p:cNvPr id="6" name="object 10">
            <a:extLst>
              <a:ext uri="{FF2B5EF4-FFF2-40B4-BE49-F238E27FC236}">
                <a16:creationId xmlns:a16="http://schemas.microsoft.com/office/drawing/2014/main" id="{92D6A363-6BEF-2C40-6B0A-34B319255EDB}"/>
              </a:ext>
            </a:extLst>
          </p:cNvPr>
          <p:cNvPicPr/>
          <p:nvPr userDrawn="1"/>
        </p:nvPicPr>
        <p:blipFill>
          <a:blip r:embed="rId3"/>
          <a:srcRect/>
          <a:stretch/>
        </p:blipFill>
        <p:spPr>
          <a:xfrm>
            <a:off x="293337" y="284307"/>
            <a:ext cx="1516538" cy="214362"/>
          </a:xfrm>
          <a:prstGeom prst="rect">
            <a:avLst/>
          </a:prstGeom>
        </p:spPr>
      </p:pic>
      <p:pic>
        <p:nvPicPr>
          <p:cNvPr id="7" name="Grafik 6" descr="Ein Bild, das Grafiken, Screenshot, Farbigkeit, Grafikdesign enthält.&#10;&#10;KI-generierte Inhalte können fehlerhaft sein.">
            <a:extLst>
              <a:ext uri="{FF2B5EF4-FFF2-40B4-BE49-F238E27FC236}">
                <a16:creationId xmlns:a16="http://schemas.microsoft.com/office/drawing/2014/main" id="{BA2DCB41-EB4A-3009-CBEE-99B35A164510}"/>
              </a:ext>
            </a:extLst>
          </p:cNvPr>
          <p:cNvPicPr>
            <a:picLocks noChangeAspect="1"/>
          </p:cNvPicPr>
          <p:nvPr userDrawn="1"/>
        </p:nvPicPr>
        <p:blipFill>
          <a:blip r:embed="rId4"/>
          <a:stretch>
            <a:fillRect/>
          </a:stretch>
        </p:blipFill>
        <p:spPr>
          <a:xfrm>
            <a:off x="5126806" y="1301192"/>
            <a:ext cx="6366344" cy="3671500"/>
          </a:xfrm>
          <a:prstGeom prst="rect">
            <a:avLst/>
          </a:prstGeom>
        </p:spPr>
      </p:pic>
    </p:spTree>
    <p:extLst>
      <p:ext uri="{BB962C8B-B14F-4D97-AF65-F5344CB8AC3E}">
        <p14:creationId xmlns:p14="http://schemas.microsoft.com/office/powerpoint/2010/main" val="1687747875"/>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2 Dark Blue">
    <p:bg>
      <p:bgPr>
        <a:solidFill>
          <a:srgbClr val="00144A"/>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pic>
        <p:nvPicPr>
          <p:cNvPr id="6" name="object 10">
            <a:extLst>
              <a:ext uri="{FF2B5EF4-FFF2-40B4-BE49-F238E27FC236}">
                <a16:creationId xmlns:a16="http://schemas.microsoft.com/office/drawing/2014/main" id="{C6B76F5E-4398-BD16-B5D6-62F9A27FF810}"/>
              </a:ext>
            </a:extLst>
          </p:cNvPr>
          <p:cNvPicPr/>
          <p:nvPr userDrawn="1"/>
        </p:nvPicPr>
        <p:blipFill>
          <a:blip r:embed="rId3"/>
          <a:srcRect/>
          <a:stretch/>
        </p:blipFill>
        <p:spPr>
          <a:xfrm>
            <a:off x="293337" y="284307"/>
            <a:ext cx="1516538" cy="214363"/>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9" name="Picture 8" descr="A black and white logo&#10;&#10;AI-generated content may be incorrect.">
            <a:extLst>
              <a:ext uri="{FF2B5EF4-FFF2-40B4-BE49-F238E27FC236}">
                <a16:creationId xmlns:a16="http://schemas.microsoft.com/office/drawing/2014/main" id="{3805DC2B-6B5F-D1FB-BFD0-EF9A7EC4DD86}"/>
              </a:ext>
            </a:extLst>
          </p:cNvPr>
          <p:cNvPicPr>
            <a:picLocks noChangeAspect="1"/>
          </p:cNvPicPr>
          <p:nvPr userDrawn="1"/>
        </p:nvPicPr>
        <p:blipFill>
          <a:blip r:embed="rId4"/>
          <a:stretch>
            <a:fillRect/>
          </a:stretch>
        </p:blipFill>
        <p:spPr>
          <a:xfrm>
            <a:off x="282575" y="6213693"/>
            <a:ext cx="1769400" cy="360000"/>
          </a:xfrm>
          <a:prstGeom prst="rect">
            <a:avLst/>
          </a:prstGeom>
        </p:spPr>
      </p:pic>
      <p:pic>
        <p:nvPicPr>
          <p:cNvPr id="11" name="Grafik 10" descr="Ein Bild, das Kleidung, Menschliches Gesicht, Person, Screenshot enthält.&#10;&#10;KI-generierte Inhalte können fehlerhaft sein.">
            <a:extLst>
              <a:ext uri="{FF2B5EF4-FFF2-40B4-BE49-F238E27FC236}">
                <a16:creationId xmlns:a16="http://schemas.microsoft.com/office/drawing/2014/main" id="{CDF68E14-0038-7C57-0570-81320A0E7D64}"/>
              </a:ext>
            </a:extLst>
          </p:cNvPr>
          <p:cNvPicPr>
            <a:picLocks noChangeAspect="1"/>
          </p:cNvPicPr>
          <p:nvPr userDrawn="1"/>
        </p:nvPicPr>
        <p:blipFill>
          <a:blip r:embed="rId5"/>
          <a:stretch>
            <a:fillRect/>
          </a:stretch>
        </p:blipFill>
        <p:spPr>
          <a:xfrm>
            <a:off x="4445353" y="956737"/>
            <a:ext cx="7374114" cy="4944525"/>
          </a:xfrm>
          <a:prstGeom prst="rect">
            <a:avLst/>
          </a:prstGeom>
        </p:spPr>
      </p:pic>
    </p:spTree>
    <p:extLst>
      <p:ext uri="{BB962C8B-B14F-4D97-AF65-F5344CB8AC3E}">
        <p14:creationId xmlns:p14="http://schemas.microsoft.com/office/powerpoint/2010/main" val="39761016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2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a:t>Speaker Name, SAP</a:t>
            </a:r>
          </a:p>
          <a:p>
            <a:pPr marL="0" marR="0" lvl="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6" name="object 10">
            <a:extLst>
              <a:ext uri="{FF2B5EF4-FFF2-40B4-BE49-F238E27FC236}">
                <a16:creationId xmlns:a16="http://schemas.microsoft.com/office/drawing/2014/main" id="{E06F435B-B4F2-3C3B-FF01-F2FED0B04E5B}"/>
              </a:ext>
            </a:extLst>
          </p:cNvPr>
          <p:cNvPicPr/>
          <p:nvPr userDrawn="1"/>
        </p:nvPicPr>
        <p:blipFill>
          <a:blip r:embed="rId2"/>
          <a:srcRect/>
          <a:stretch/>
        </p:blipFill>
        <p:spPr>
          <a:xfrm>
            <a:off x="293337" y="284307"/>
            <a:ext cx="1516538" cy="214362"/>
          </a:xfrm>
          <a:prstGeom prst="rect">
            <a:avLst/>
          </a:prstGeom>
        </p:spPr>
      </p:pic>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3"/>
          <a:srcRect/>
          <a:stretch/>
        </p:blipFill>
        <p:spPr>
          <a:xfrm>
            <a:off x="282575" y="6213693"/>
            <a:ext cx="1769400" cy="360000"/>
          </a:xfrm>
          <a:prstGeom prst="rect">
            <a:avLst/>
          </a:prstGeom>
        </p:spPr>
      </p:pic>
      <p:pic>
        <p:nvPicPr>
          <p:cNvPr id="14" name="Grafik 13" descr="Ein Bild, das Menschliches Gesicht, Kleidung, Person, Screenshot enthält.&#10;&#10;KI-generierte Inhalte können fehlerhaft sein.">
            <a:extLst>
              <a:ext uri="{FF2B5EF4-FFF2-40B4-BE49-F238E27FC236}">
                <a16:creationId xmlns:a16="http://schemas.microsoft.com/office/drawing/2014/main" id="{BC94FE32-1FCE-ADF8-9FCE-0CEF75FF74E2}"/>
              </a:ext>
            </a:extLst>
          </p:cNvPr>
          <p:cNvPicPr>
            <a:picLocks noChangeAspect="1"/>
          </p:cNvPicPr>
          <p:nvPr userDrawn="1"/>
        </p:nvPicPr>
        <p:blipFill>
          <a:blip r:embed="rId4"/>
          <a:stretch>
            <a:fillRect/>
          </a:stretch>
        </p:blipFill>
        <p:spPr>
          <a:xfrm>
            <a:off x="4618213" y="1155471"/>
            <a:ext cx="6876985" cy="4605881"/>
          </a:xfrm>
          <a:prstGeom prst="rect">
            <a:avLst/>
          </a:prstGeom>
        </p:spPr>
      </p:pic>
    </p:spTree>
    <p:extLst>
      <p:ext uri="{BB962C8B-B14F-4D97-AF65-F5344CB8AC3E}">
        <p14:creationId xmlns:p14="http://schemas.microsoft.com/office/powerpoint/2010/main" val="2791818672"/>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0"/>
            <a:ext cx="5211000" cy="409019"/>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6212683" cy="4787900"/>
          </a:xfrm>
        </p:spPr>
        <p:txBody>
          <a:bodyPr/>
          <a:lstStyle>
            <a:lvl1pPr>
              <a:defRPr/>
            </a:lvl1pPr>
          </a:lstStyle>
          <a:p>
            <a:pPr lvl="0"/>
            <a:r>
              <a:rPr lang="en-US"/>
              <a:t>Agenda Item/Divider Headline</a:t>
            </a:r>
          </a:p>
          <a:p>
            <a:pPr lvl="1"/>
            <a:r>
              <a:rPr lang="en-US"/>
              <a:t>Details</a:t>
            </a:r>
          </a:p>
        </p:txBody>
      </p:sp>
      <p:sp>
        <p:nvSpPr>
          <p:cNvPr id="11" name="Picture Placeholder 1/3 right">
            <a:extLst>
              <a:ext uri="{FF2B5EF4-FFF2-40B4-BE49-F238E27FC236}">
                <a16:creationId xmlns:a16="http://schemas.microsoft.com/office/drawing/2014/main" id="{DBDDA8C9-7B43-6F20-0BFB-64A2FA0DFDAC}"/>
              </a:ext>
            </a:extLst>
          </p:cNvPr>
          <p:cNvSpPr>
            <a:spLocks noGrp="1"/>
          </p:cNvSpPr>
          <p:nvPr>
            <p:ph type="pic" sz="quarter" idx="10" hasCustomPrompt="1"/>
          </p:nvPr>
        </p:nvSpPr>
        <p:spPr bwMode="gray">
          <a:xfrm>
            <a:off x="7364186" y="0"/>
            <a:ext cx="4830989"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1948816455"/>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Dark Blue">
    <p:bg>
      <p:bgPr>
        <a:solidFill>
          <a:srgbClr val="00144A"/>
        </a:solidFill>
        <a:effectLst/>
      </p:bgPr>
    </p:bg>
    <p:spTree>
      <p:nvGrpSpPr>
        <p:cNvPr id="1" name=""/>
        <p:cNvGrpSpPr/>
        <p:nvPr/>
      </p:nvGrpSpPr>
      <p:grpSpPr>
        <a:xfrm>
          <a:off x="0" y="0"/>
          <a:ext cx="0" cy="0"/>
          <a:chOff x="0" y="0"/>
          <a:chExt cx="0" cy="0"/>
        </a:xfrm>
      </p:grpSpPr>
      <p:sp>
        <p:nvSpPr>
          <p:cNvPr id="4" name="Divider text">
            <a:extLst>
              <a:ext uri="{FF2B5EF4-FFF2-40B4-BE49-F238E27FC236}">
                <a16:creationId xmlns:a16="http://schemas.microsoft.com/office/drawing/2014/main" id="{A412289E-F61C-C4C6-EF03-71EF2CFBC0E6}"/>
              </a:ext>
            </a:extLst>
          </p:cNvPr>
          <p:cNvSpPr>
            <a:spLocks noGrp="1"/>
          </p:cNvSpPr>
          <p:nvPr>
            <p:ph type="ctrTitle" hasCustomPrompt="1"/>
          </p:nvPr>
        </p:nvSpPr>
        <p:spPr bwMode="black">
          <a:xfrm>
            <a:off x="498475" y="1579893"/>
            <a:ext cx="4695317" cy="2538986"/>
          </a:xfrm>
        </p:spPr>
        <p:txBody>
          <a:bodyPr anchor="ctr" anchorCtr="0">
            <a:noAutofit/>
          </a:bodyPr>
          <a:lstStyle>
            <a:lvl1pPr>
              <a:defRPr sz="3600" b="0" i="0">
                <a:solidFill>
                  <a:schemeClr val="bg1"/>
                </a:solidFill>
                <a:latin typeface="72 Brand Medium" panose="020B0504030603020204" pitchFamily="34" charset="0"/>
              </a:defRPr>
            </a:lvl1pPr>
          </a:lstStyle>
          <a:p>
            <a:r>
              <a:rPr lang="en-US"/>
              <a:t>Divider page</a:t>
            </a:r>
            <a:endParaRPr lang="de-DE"/>
          </a:p>
        </p:txBody>
      </p:sp>
      <p:pic>
        <p:nvPicPr>
          <p:cNvPr id="3" name="Grafik 2" descr="Ein Bild, das Screenshot, Grafiken, Farbigkeit, Electric Blue (Farbe) enthält.&#10;&#10;KI-generierte Inhalte können fehlerhaft sein.">
            <a:extLst>
              <a:ext uri="{FF2B5EF4-FFF2-40B4-BE49-F238E27FC236}">
                <a16:creationId xmlns:a16="http://schemas.microsoft.com/office/drawing/2014/main" id="{74DEEBDB-220B-FC33-E9F5-E0355E26E011}"/>
              </a:ext>
            </a:extLst>
          </p:cNvPr>
          <p:cNvPicPr>
            <a:picLocks noChangeAspect="1"/>
          </p:cNvPicPr>
          <p:nvPr userDrawn="1"/>
        </p:nvPicPr>
        <p:blipFill>
          <a:blip r:embed="rId2"/>
          <a:stretch>
            <a:fillRect/>
          </a:stretch>
        </p:blipFill>
        <p:spPr>
          <a:xfrm>
            <a:off x="5969852" y="2202578"/>
            <a:ext cx="5388254" cy="2183716"/>
          </a:xfrm>
          <a:prstGeom prst="rect">
            <a:avLst/>
          </a:prstGeom>
        </p:spPr>
      </p:pic>
    </p:spTree>
    <p:extLst>
      <p:ext uri="{BB962C8B-B14F-4D97-AF65-F5344CB8AC3E}">
        <p14:creationId xmlns:p14="http://schemas.microsoft.com/office/powerpoint/2010/main" val="1549606168"/>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Light Blue">
    <p:bg>
      <p:bgPr>
        <a:solidFill>
          <a:srgbClr val="EBF8FF"/>
        </a:solidFill>
        <a:effectLst/>
      </p:bgPr>
    </p:bg>
    <p:spTree>
      <p:nvGrpSpPr>
        <p:cNvPr id="1" name=""/>
        <p:cNvGrpSpPr/>
        <p:nvPr/>
      </p:nvGrpSpPr>
      <p:grpSpPr>
        <a:xfrm>
          <a:off x="0" y="0"/>
          <a:ext cx="0" cy="0"/>
          <a:chOff x="0" y="0"/>
          <a:chExt cx="0" cy="0"/>
        </a:xfrm>
      </p:grpSpPr>
      <p:sp>
        <p:nvSpPr>
          <p:cNvPr id="2" name="Divider text">
            <a:extLst>
              <a:ext uri="{FF2B5EF4-FFF2-40B4-BE49-F238E27FC236}">
                <a16:creationId xmlns:a16="http://schemas.microsoft.com/office/drawing/2014/main" id="{B8E19BB8-A9B6-70B1-A41B-ECC3C44A45EE}"/>
              </a:ext>
            </a:extLst>
          </p:cNvPr>
          <p:cNvSpPr>
            <a:spLocks noGrp="1"/>
          </p:cNvSpPr>
          <p:nvPr>
            <p:ph type="ctrTitle" hasCustomPrompt="1"/>
          </p:nvPr>
        </p:nvSpPr>
        <p:spPr bwMode="black">
          <a:xfrm>
            <a:off x="498475" y="1579893"/>
            <a:ext cx="4695317" cy="2538986"/>
          </a:xfrm>
        </p:spPr>
        <p:txBody>
          <a:bodyPr anchor="ctr" anchorCtr="0">
            <a:noAutofit/>
          </a:bodyPr>
          <a:lstStyle>
            <a:lvl1pPr>
              <a:defRPr sz="3600" b="0" i="0">
                <a:solidFill>
                  <a:srgbClr val="00144A"/>
                </a:solidFill>
                <a:latin typeface="72 Brand Medium" panose="020B0504030603020204" pitchFamily="34" charset="0"/>
              </a:defRPr>
            </a:lvl1pPr>
          </a:lstStyle>
          <a:p>
            <a:r>
              <a:rPr lang="en-US"/>
              <a:t>Divider page</a:t>
            </a:r>
            <a:endParaRPr lang="de-DE"/>
          </a:p>
        </p:txBody>
      </p:sp>
      <p:pic>
        <p:nvPicPr>
          <p:cNvPr id="3" name="Grafik 2" descr="Ein Bild, das Grafiken, Screenshot, Grafikdesign, Farbigkeit enthält.&#10;&#10;KI-generierte Inhalte können fehlerhaft sein.">
            <a:extLst>
              <a:ext uri="{FF2B5EF4-FFF2-40B4-BE49-F238E27FC236}">
                <a16:creationId xmlns:a16="http://schemas.microsoft.com/office/drawing/2014/main" id="{0F1D9163-0B5C-5000-AD1B-420F58612E61}"/>
              </a:ext>
            </a:extLst>
          </p:cNvPr>
          <p:cNvPicPr>
            <a:picLocks noChangeAspect="1"/>
          </p:cNvPicPr>
          <p:nvPr userDrawn="1"/>
        </p:nvPicPr>
        <p:blipFill>
          <a:blip r:embed="rId2"/>
          <a:stretch>
            <a:fillRect/>
          </a:stretch>
        </p:blipFill>
        <p:spPr>
          <a:xfrm>
            <a:off x="6450152" y="1564395"/>
            <a:ext cx="4307142" cy="3404212"/>
          </a:xfrm>
          <a:prstGeom prst="rect">
            <a:avLst/>
          </a:prstGeom>
        </p:spPr>
      </p:pic>
    </p:spTree>
    <p:extLst>
      <p:ext uri="{BB962C8B-B14F-4D97-AF65-F5344CB8AC3E}">
        <p14:creationId xmlns:p14="http://schemas.microsoft.com/office/powerpoint/2010/main" val="266251126"/>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Dark Blue">
    <p:bg>
      <p:bgPr>
        <a:solidFill>
          <a:srgbClr val="00144A"/>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81AC856-51FB-3EF1-C20A-A4CA2C0C35E4}"/>
              </a:ext>
            </a:extLst>
          </p:cNvPr>
          <p:cNvSpPr/>
          <p:nvPr userDrawn="1"/>
        </p:nvSpPr>
        <p:spPr bwMode="gray">
          <a:xfrm>
            <a:off x="10931236" y="0"/>
            <a:ext cx="1263940" cy="6858000"/>
          </a:xfrm>
          <a:prstGeom prst="rect">
            <a:avLst/>
          </a:prstGeom>
          <a:solidFill>
            <a:srgbClr val="00144A"/>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2" name="Quote placeholder">
            <a:extLst>
              <a:ext uri="{FF2B5EF4-FFF2-40B4-BE49-F238E27FC236}">
                <a16:creationId xmlns:a16="http://schemas.microsoft.com/office/drawing/2014/main" id="{69016EE0-15AC-8AC3-D463-DC5DC610569B}"/>
              </a:ext>
            </a:extLst>
          </p:cNvPr>
          <p:cNvSpPr>
            <a:spLocks noGrp="1"/>
          </p:cNvSpPr>
          <p:nvPr>
            <p:ph type="body" sz="quarter" idx="10" hasCustomPrompt="1"/>
          </p:nvPr>
        </p:nvSpPr>
        <p:spPr>
          <a:xfrm>
            <a:off x="2816035" y="2413223"/>
            <a:ext cx="8747171" cy="2226877"/>
          </a:xfrm>
        </p:spPr>
        <p:txBody>
          <a:bodyPr anchor="ctr" anchorCtr="0"/>
          <a:lstStyle>
            <a:lvl1pPr marL="0" indent="0">
              <a:lnSpc>
                <a:spcPct val="90000"/>
              </a:lnSpc>
              <a:spcBef>
                <a:spcPts val="600"/>
              </a:spcBef>
              <a:defRPr sz="5999" b="0" i="0">
                <a:solidFill>
                  <a:schemeClr val="bg1"/>
                </a:solidFill>
                <a:latin typeface="72 Brand Medium" panose="020B0504030603020204" pitchFamily="34" charset="0"/>
              </a:defRPr>
            </a:lvl1pPr>
            <a:lvl2pPr marL="0" indent="0">
              <a:buNone/>
              <a:defRPr sz="1600">
                <a:solidFill>
                  <a:schemeClr val="bg1"/>
                </a:solidFill>
              </a:defRPr>
            </a:lvl2pPr>
          </a:lstStyle>
          <a:p>
            <a:pPr lvl="0"/>
            <a:r>
              <a:rPr lang="en-US" noProof="0"/>
              <a:t>“Quote goes here </a:t>
            </a:r>
            <a:br>
              <a:rPr lang="en-US" noProof="0"/>
            </a:br>
            <a:r>
              <a:rPr lang="en-US" noProof="0"/>
              <a:t>and here.”</a:t>
            </a:r>
          </a:p>
          <a:p>
            <a:pPr lvl="1"/>
            <a:r>
              <a:rPr lang="en-US" noProof="0"/>
              <a:t>Source</a:t>
            </a:r>
          </a:p>
        </p:txBody>
      </p:sp>
      <p:pic>
        <p:nvPicPr>
          <p:cNvPr id="26" name="Grafik 25">
            <a:extLst>
              <a:ext uri="{FF2B5EF4-FFF2-40B4-BE49-F238E27FC236}">
                <a16:creationId xmlns:a16="http://schemas.microsoft.com/office/drawing/2014/main" id="{BF5A9396-A07D-6E06-45A1-4C3DA3FAF659}"/>
              </a:ext>
            </a:extLst>
          </p:cNvPr>
          <p:cNvPicPr>
            <a:picLocks noChangeAspect="1"/>
          </p:cNvPicPr>
          <p:nvPr userDrawn="1"/>
        </p:nvPicPr>
        <p:blipFill>
          <a:blip r:embed="rId3"/>
          <a:srcRect l="56665" r="-30972"/>
          <a:stretch>
            <a:fillRect/>
          </a:stretch>
        </p:blipFill>
        <p:spPr>
          <a:xfrm>
            <a:off x="0" y="-685863"/>
            <a:ext cx="4670474" cy="8007542"/>
          </a:xfrm>
          <a:prstGeom prst="rect">
            <a:avLst/>
          </a:prstGeom>
        </p:spPr>
      </p:pic>
    </p:spTree>
    <p:extLst>
      <p:ext uri="{BB962C8B-B14F-4D97-AF65-F5344CB8AC3E}">
        <p14:creationId xmlns:p14="http://schemas.microsoft.com/office/powerpoint/2010/main" val="7375198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2682">
          <p15:clr>
            <a:srgbClr val="FBAE40"/>
          </p15:clr>
        </p15:guide>
        <p15:guide id="6" pos="736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Light Blue">
    <p:bg>
      <p:bgPr>
        <a:solidFill>
          <a:srgbClr val="EBF8FF"/>
        </a:solidFill>
        <a:effectLst/>
      </p:bgPr>
    </p:bg>
    <p:spTree>
      <p:nvGrpSpPr>
        <p:cNvPr id="1" name=""/>
        <p:cNvGrpSpPr/>
        <p:nvPr/>
      </p:nvGrpSpPr>
      <p:grpSpPr>
        <a:xfrm>
          <a:off x="0" y="0"/>
          <a:ext cx="0" cy="0"/>
          <a:chOff x="0" y="0"/>
          <a:chExt cx="0" cy="0"/>
        </a:xfrm>
      </p:grpSpPr>
      <p:sp>
        <p:nvSpPr>
          <p:cNvPr id="5" name="Quote placeholder">
            <a:extLst>
              <a:ext uri="{FF2B5EF4-FFF2-40B4-BE49-F238E27FC236}">
                <a16:creationId xmlns:a16="http://schemas.microsoft.com/office/drawing/2014/main" id="{2F562D68-12E0-FC6D-5FA2-8F0F5950F22A}"/>
              </a:ext>
            </a:extLst>
          </p:cNvPr>
          <p:cNvSpPr>
            <a:spLocks noGrp="1"/>
          </p:cNvSpPr>
          <p:nvPr>
            <p:ph type="body" sz="quarter" idx="10" hasCustomPrompt="1"/>
          </p:nvPr>
        </p:nvSpPr>
        <p:spPr>
          <a:xfrm>
            <a:off x="2816035" y="2413223"/>
            <a:ext cx="8747171" cy="2226877"/>
          </a:xfrm>
        </p:spPr>
        <p:txBody>
          <a:bodyPr anchor="ctr" anchorCtr="0"/>
          <a:lstStyle>
            <a:lvl1pPr marL="0" indent="0">
              <a:lnSpc>
                <a:spcPct val="90000"/>
              </a:lnSpc>
              <a:spcBef>
                <a:spcPts val="600"/>
              </a:spcBef>
              <a:defRPr sz="5999" b="0" i="0">
                <a:solidFill>
                  <a:srgbClr val="00144A"/>
                </a:solidFill>
                <a:latin typeface="72 Brand Medium" panose="020B0504030603020204" pitchFamily="34" charset="0"/>
              </a:defRPr>
            </a:lvl1pPr>
            <a:lvl2pPr marL="0" indent="0">
              <a:buNone/>
              <a:defRPr sz="1600">
                <a:solidFill>
                  <a:srgbClr val="00144A"/>
                </a:solidFill>
              </a:defRPr>
            </a:lvl2pPr>
          </a:lstStyle>
          <a:p>
            <a:pPr lvl="0"/>
            <a:r>
              <a:rPr lang="en-US" noProof="0"/>
              <a:t>“Quote goes here </a:t>
            </a:r>
            <a:br>
              <a:rPr lang="en-US" noProof="0"/>
            </a:br>
            <a:r>
              <a:rPr lang="en-US" noProof="0"/>
              <a:t>and here.”</a:t>
            </a:r>
          </a:p>
          <a:p>
            <a:pPr lvl="1"/>
            <a:r>
              <a:rPr lang="en-US" noProof="0"/>
              <a:t>Source</a:t>
            </a:r>
          </a:p>
        </p:txBody>
      </p:sp>
      <p:pic>
        <p:nvPicPr>
          <p:cNvPr id="23" name="Grafik 22" descr="Ein Bild, das Screenshot, Farbigkeit, Grafiken, Design enthält.&#10;&#10;KI-generierte Inhalte können fehlerhaft sein.">
            <a:extLst>
              <a:ext uri="{FF2B5EF4-FFF2-40B4-BE49-F238E27FC236}">
                <a16:creationId xmlns:a16="http://schemas.microsoft.com/office/drawing/2014/main" id="{3F193346-BE53-D607-580F-690C2CC99A73}"/>
              </a:ext>
            </a:extLst>
          </p:cNvPr>
          <p:cNvPicPr>
            <a:picLocks noChangeAspect="1"/>
          </p:cNvPicPr>
          <p:nvPr userDrawn="1"/>
        </p:nvPicPr>
        <p:blipFill>
          <a:blip r:embed="rId3"/>
          <a:srcRect l="50232"/>
          <a:stretch>
            <a:fillRect/>
          </a:stretch>
        </p:blipFill>
        <p:spPr>
          <a:xfrm>
            <a:off x="0" y="-685863"/>
            <a:ext cx="3016719" cy="8007542"/>
          </a:xfrm>
          <a:prstGeom prst="rect">
            <a:avLst/>
          </a:prstGeom>
        </p:spPr>
      </p:pic>
    </p:spTree>
    <p:extLst>
      <p:ext uri="{BB962C8B-B14F-4D97-AF65-F5344CB8AC3E}">
        <p14:creationId xmlns:p14="http://schemas.microsoft.com/office/powerpoint/2010/main" val="2975107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here ideas get real Dark Blue">
    <p:bg>
      <p:bgPr>
        <a:solidFill>
          <a:srgbClr val="00144A"/>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81AC856-51FB-3EF1-C20A-A4CA2C0C35E4}"/>
              </a:ext>
            </a:extLst>
          </p:cNvPr>
          <p:cNvSpPr/>
          <p:nvPr userDrawn="1"/>
        </p:nvSpPr>
        <p:spPr bwMode="gray">
          <a:xfrm>
            <a:off x="10931236" y="0"/>
            <a:ext cx="1263940" cy="6858000"/>
          </a:xfrm>
          <a:prstGeom prst="rect">
            <a:avLst/>
          </a:prstGeom>
          <a:solidFill>
            <a:srgbClr val="00144A"/>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72 Brand" pitchFamily="34" charset="-128"/>
              <a:cs typeface="72 Brand" pitchFamily="34" charset="-128"/>
            </a:endParaRPr>
          </a:p>
        </p:txBody>
      </p:sp>
      <p:pic>
        <p:nvPicPr>
          <p:cNvPr id="5" name="Grafik 4" descr="Ein Bild, das Screenshot, Grafiken, Schrift, Grafikdesign enthält.&#10;&#10;KI-generierte Inhalte können fehlerhaft sein.">
            <a:extLst>
              <a:ext uri="{FF2B5EF4-FFF2-40B4-BE49-F238E27FC236}">
                <a16:creationId xmlns:a16="http://schemas.microsoft.com/office/drawing/2014/main" id="{90EAC435-859A-AD05-9820-711E4C833EE9}"/>
              </a:ext>
            </a:extLst>
          </p:cNvPr>
          <p:cNvPicPr>
            <a:picLocks noChangeAspect="1"/>
          </p:cNvPicPr>
          <p:nvPr userDrawn="1"/>
        </p:nvPicPr>
        <p:blipFill>
          <a:blip r:embed="rId3"/>
          <a:stretch>
            <a:fillRect/>
          </a:stretch>
        </p:blipFill>
        <p:spPr>
          <a:xfrm>
            <a:off x="1011142" y="2106743"/>
            <a:ext cx="10172890" cy="2489239"/>
          </a:xfrm>
          <a:prstGeom prst="rect">
            <a:avLst/>
          </a:prstGeom>
        </p:spPr>
      </p:pic>
    </p:spTree>
    <p:extLst>
      <p:ext uri="{BB962C8B-B14F-4D97-AF65-F5344CB8AC3E}">
        <p14:creationId xmlns:p14="http://schemas.microsoft.com/office/powerpoint/2010/main" val="42931924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2682">
          <p15:clr>
            <a:srgbClr val="FBAE40"/>
          </p15:clr>
        </p15:guide>
        <p15:guide id="6" pos="736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ere ideas get real Light Blue">
    <p:bg>
      <p:bgPr>
        <a:solidFill>
          <a:srgbClr val="EBF8FF"/>
        </a:solidFill>
        <a:effectLst/>
      </p:bgPr>
    </p:bg>
    <p:spTree>
      <p:nvGrpSpPr>
        <p:cNvPr id="1" name=""/>
        <p:cNvGrpSpPr/>
        <p:nvPr/>
      </p:nvGrpSpPr>
      <p:grpSpPr>
        <a:xfrm>
          <a:off x="0" y="0"/>
          <a:ext cx="0" cy="0"/>
          <a:chOff x="0" y="0"/>
          <a:chExt cx="0" cy="0"/>
        </a:xfrm>
      </p:grpSpPr>
      <p:pic>
        <p:nvPicPr>
          <p:cNvPr id="3" name="Grafik 2" descr="Ein Bild, das Screenshot, Grafiken, Grafikdesign, Schrift enthält.&#10;&#10;KI-generierte Inhalte können fehlerhaft sein.">
            <a:extLst>
              <a:ext uri="{FF2B5EF4-FFF2-40B4-BE49-F238E27FC236}">
                <a16:creationId xmlns:a16="http://schemas.microsoft.com/office/drawing/2014/main" id="{304D449C-317C-5DAF-ABE2-58208202148F}"/>
              </a:ext>
            </a:extLst>
          </p:cNvPr>
          <p:cNvPicPr>
            <a:picLocks noChangeAspect="1"/>
          </p:cNvPicPr>
          <p:nvPr userDrawn="1"/>
        </p:nvPicPr>
        <p:blipFill>
          <a:blip r:embed="rId3"/>
          <a:stretch>
            <a:fillRect/>
          </a:stretch>
        </p:blipFill>
        <p:spPr>
          <a:xfrm>
            <a:off x="1516379" y="1324349"/>
            <a:ext cx="9162415" cy="3629152"/>
          </a:xfrm>
          <a:prstGeom prst="rect">
            <a:avLst/>
          </a:prstGeom>
        </p:spPr>
      </p:pic>
    </p:spTree>
    <p:extLst>
      <p:ext uri="{BB962C8B-B14F-4D97-AF65-F5344CB8AC3E}">
        <p14:creationId xmlns:p14="http://schemas.microsoft.com/office/powerpoint/2010/main" val="11481620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835594865"/>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3858964115"/>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4171288"/>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48255699"/>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482813697"/>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4176459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07977335"/>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51252"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7626"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4000"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512307896"/>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9" y="1548000"/>
            <a:ext cx="7092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847450130"/>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6">
          <p15:clr>
            <a:srgbClr val="FBAE40"/>
          </p15:clr>
        </p15:guide>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15559519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88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328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388450228"/>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942475507"/>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hank You Dark Blue">
    <p:bg>
      <p:bgPr>
        <a:solidFill>
          <a:srgbClr val="00144A"/>
        </a:solidFill>
        <a:effectLst/>
      </p:bgPr>
    </p:bg>
    <p:spTree>
      <p:nvGrpSpPr>
        <p:cNvPr id="1" name=""/>
        <p:cNvGrpSpPr/>
        <p:nvPr/>
      </p:nvGrpSpPr>
      <p:grpSpPr>
        <a:xfrm>
          <a:off x="0" y="0"/>
          <a:ext cx="0" cy="0"/>
          <a:chOff x="0" y="0"/>
          <a:chExt cx="0" cy="0"/>
        </a:xfrm>
      </p:grpSpPr>
      <p:pic>
        <p:nvPicPr>
          <p:cNvPr id="8" name="Grafik 7" descr="Ein Bild, das Screenshot, Grafiken, Farbigkeit enthält.&#10;&#10;KI-generierte Inhalte können fehlerhaft sein.">
            <a:extLst>
              <a:ext uri="{FF2B5EF4-FFF2-40B4-BE49-F238E27FC236}">
                <a16:creationId xmlns:a16="http://schemas.microsoft.com/office/drawing/2014/main" id="{6C149C7D-EDEA-E2CF-76ED-75CC189BF207}"/>
              </a:ext>
            </a:extLst>
          </p:cNvPr>
          <p:cNvPicPr>
            <a:picLocks noChangeAspect="1"/>
          </p:cNvPicPr>
          <p:nvPr userDrawn="1"/>
        </p:nvPicPr>
        <p:blipFill>
          <a:blip r:embed="rId2"/>
          <a:stretch>
            <a:fillRect/>
          </a:stretch>
        </p:blipFill>
        <p:spPr>
          <a:xfrm>
            <a:off x="2850611" y="196947"/>
            <a:ext cx="9903657" cy="5570807"/>
          </a:xfrm>
          <a:prstGeom prst="rect">
            <a:avLst/>
          </a:prstGeom>
        </p:spPr>
      </p:pic>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solidFill>
                  <a:schemeClr val="bg1"/>
                </a:solidFill>
                <a:latin typeface="+mn-lt"/>
              </a:rPr>
              <a:t>© 2025 SAP SE or an SAP affiliate company. All rights reserved. See Legal Notice on </a:t>
            </a:r>
            <a:r>
              <a:rPr lang="en-US" sz="600" b="0" i="0" err="1">
                <a:solidFill>
                  <a:schemeClr val="bg1"/>
                </a:solidFill>
                <a:latin typeface="+mn-lt"/>
              </a:rPr>
              <a:t>www.sap.com</a:t>
            </a:r>
            <a:r>
              <a:rPr lang="en-US" sz="600" b="0" i="0">
                <a:solidFill>
                  <a:schemeClr val="bg1"/>
                </a:solidFill>
                <a:latin typeface="+mn-lt"/>
              </a:rPr>
              <a:t>/legal-notice for use terms, disclaimers, disclosures, or restrictions related to this material.</a:t>
            </a:r>
          </a:p>
        </p:txBody>
      </p:sp>
      <p:sp>
        <p:nvSpPr>
          <p:cNvPr id="3" name="Textplatzhalter 6">
            <a:extLst>
              <a:ext uri="{FF2B5EF4-FFF2-40B4-BE49-F238E27FC236}">
                <a16:creationId xmlns:a16="http://schemas.microsoft.com/office/drawing/2014/main" id="{B01F4787-EAB6-6758-FC14-3B358D0B4350}"/>
              </a:ext>
            </a:extLst>
          </p:cNvPr>
          <p:cNvSpPr>
            <a:spLocks noGrp="1"/>
          </p:cNvSpPr>
          <p:nvPr>
            <p:ph type="body" sz="quarter" idx="10" hasCustomPrompt="1"/>
          </p:nvPr>
        </p:nvSpPr>
        <p:spPr>
          <a:xfrm>
            <a:off x="498475" y="3197065"/>
            <a:ext cx="3305429" cy="1265079"/>
          </a:xfrm>
        </p:spPr>
        <p:txBody>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de-DE"/>
              <a:t>Name</a:t>
            </a:r>
          </a:p>
        </p:txBody>
      </p:sp>
      <p:sp>
        <p:nvSpPr>
          <p:cNvPr id="5" name="Textplatzhalter 2">
            <a:extLst>
              <a:ext uri="{FF2B5EF4-FFF2-40B4-BE49-F238E27FC236}">
                <a16:creationId xmlns:a16="http://schemas.microsoft.com/office/drawing/2014/main" id="{552E7F0D-A8CC-D351-94E0-B93E3F3DEAC4}"/>
              </a:ext>
            </a:extLst>
          </p:cNvPr>
          <p:cNvSpPr>
            <a:spLocks noGrp="1"/>
          </p:cNvSpPr>
          <p:nvPr>
            <p:ph type="body" sz="quarter" idx="11" hasCustomPrompt="1"/>
          </p:nvPr>
        </p:nvSpPr>
        <p:spPr>
          <a:xfrm>
            <a:off x="498475" y="2907348"/>
            <a:ext cx="1971730" cy="319532"/>
          </a:xfrm>
        </p:spPr>
        <p:txBody>
          <a:bodyPr/>
          <a:lstStyle>
            <a:lvl1pPr>
              <a:defRPr lang="de-DE" sz="1600" b="0" i="0" kern="1200" dirty="0">
                <a:solidFill>
                  <a:schemeClr val="bg1"/>
                </a:solidFill>
                <a:latin typeface="+mn-lt"/>
                <a:ea typeface="+mn-ea"/>
                <a:cs typeface="+mn-cs"/>
              </a:defRPr>
            </a:lvl1p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de-DE"/>
              <a:t>Contact </a:t>
            </a:r>
            <a:r>
              <a:rPr lang="de-DE" err="1"/>
              <a:t>information</a:t>
            </a:r>
            <a:r>
              <a:rPr lang="de-DE"/>
              <a:t>:</a:t>
            </a:r>
          </a:p>
        </p:txBody>
      </p:sp>
      <p:pic>
        <p:nvPicPr>
          <p:cNvPr id="6" name="Picture 4">
            <a:extLst>
              <a:ext uri="{FF2B5EF4-FFF2-40B4-BE49-F238E27FC236}">
                <a16:creationId xmlns:a16="http://schemas.microsoft.com/office/drawing/2014/main" id="{F8797235-2602-508E-6B35-20DED9161D4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165660" y="5990000"/>
            <a:ext cx="3506400" cy="360000"/>
          </a:xfrm>
          <a:prstGeom prst="rect">
            <a:avLst/>
          </a:prstGeom>
        </p:spPr>
      </p:pic>
      <p:pic>
        <p:nvPicPr>
          <p:cNvPr id="7" name="object 10">
            <a:extLst>
              <a:ext uri="{FF2B5EF4-FFF2-40B4-BE49-F238E27FC236}">
                <a16:creationId xmlns:a16="http://schemas.microsoft.com/office/drawing/2014/main" id="{13CDB3F7-00C7-0239-F25F-0E99260F48B2}"/>
              </a:ext>
            </a:extLst>
          </p:cNvPr>
          <p:cNvPicPr/>
          <p:nvPr userDrawn="1"/>
        </p:nvPicPr>
        <p:blipFill>
          <a:blip r:embed="rId4"/>
          <a:srcRect/>
          <a:stretch/>
        </p:blipFill>
        <p:spPr>
          <a:xfrm>
            <a:off x="498478" y="270676"/>
            <a:ext cx="1516531" cy="214362"/>
          </a:xfrm>
          <a:prstGeom prst="rect">
            <a:avLst/>
          </a:prstGeom>
        </p:spPr>
      </p:pic>
      <p:sp>
        <p:nvSpPr>
          <p:cNvPr id="13" name="TextBox 12">
            <a:extLst>
              <a:ext uri="{FF2B5EF4-FFF2-40B4-BE49-F238E27FC236}">
                <a16:creationId xmlns:a16="http://schemas.microsoft.com/office/drawing/2014/main" id="{32F86EEA-468A-E8C1-9988-BEAB929C1879}"/>
              </a:ext>
            </a:extLst>
          </p:cNvPr>
          <p:cNvSpPr txBox="1"/>
          <p:nvPr userDrawn="1"/>
        </p:nvSpPr>
        <p:spPr>
          <a:xfrm>
            <a:off x="5335150" y="3311951"/>
            <a:ext cx="3185991"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i="0" kern="0">
                <a:solidFill>
                  <a:schemeClr val="bg1"/>
                </a:solidFill>
                <a:latin typeface="72 Brand" panose="020B0504030603020204" pitchFamily="34" charset="0"/>
                <a:ea typeface="72 Brand" pitchFamily="34" charset="-128"/>
                <a:cs typeface="72 Brand" pitchFamily="34" charset="-128"/>
              </a:rPr>
              <a:t>Thank you!</a:t>
            </a:r>
          </a:p>
        </p:txBody>
      </p:sp>
    </p:spTree>
    <p:extLst>
      <p:ext uri="{BB962C8B-B14F-4D97-AF65-F5344CB8AC3E}">
        <p14:creationId xmlns:p14="http://schemas.microsoft.com/office/powerpoint/2010/main" val="737128724"/>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hank You Light Blue">
    <p:bg>
      <p:bgPr>
        <a:solidFill>
          <a:srgbClr val="EBF8FF"/>
        </a:solidFill>
        <a:effectLst/>
      </p:bgPr>
    </p:bg>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solidFill>
                  <a:srgbClr val="00144A"/>
                </a:solidFill>
                <a:latin typeface="+mn-lt"/>
              </a:rPr>
              <a:t>© 2025 SAP SE or an SAP affiliate company. All rights reserved. See Legal Notice on </a:t>
            </a:r>
            <a:r>
              <a:rPr lang="en-US" sz="600" b="0" i="0" err="1">
                <a:solidFill>
                  <a:srgbClr val="00144A"/>
                </a:solidFill>
                <a:latin typeface="+mn-lt"/>
              </a:rPr>
              <a:t>www.sap.com</a:t>
            </a:r>
            <a:r>
              <a:rPr lang="en-US" sz="600" b="0" i="0">
                <a:solidFill>
                  <a:srgbClr val="00144A"/>
                </a:solidFill>
                <a:latin typeface="+mn-lt"/>
              </a:rPr>
              <a:t>/legal-notice for use terms, disclaimers, disclosures, or restrictions related to this material.</a:t>
            </a:r>
          </a:p>
        </p:txBody>
      </p:sp>
      <p:sp>
        <p:nvSpPr>
          <p:cNvPr id="7" name="Textplatzhalter 6">
            <a:extLst>
              <a:ext uri="{FF2B5EF4-FFF2-40B4-BE49-F238E27FC236}">
                <a16:creationId xmlns:a16="http://schemas.microsoft.com/office/drawing/2014/main" id="{092FCA68-7DA8-8A95-904C-BC4FE658586C}"/>
              </a:ext>
            </a:extLst>
          </p:cNvPr>
          <p:cNvSpPr>
            <a:spLocks noGrp="1"/>
          </p:cNvSpPr>
          <p:nvPr>
            <p:ph type="body" sz="quarter" idx="10" hasCustomPrompt="1"/>
          </p:nvPr>
        </p:nvSpPr>
        <p:spPr>
          <a:xfrm>
            <a:off x="498475" y="3197065"/>
            <a:ext cx="3305429" cy="1265079"/>
          </a:xfrm>
        </p:spPr>
        <p:txBody>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de-DE"/>
              <a:t>Name</a:t>
            </a:r>
          </a:p>
        </p:txBody>
      </p:sp>
      <p:sp>
        <p:nvSpPr>
          <p:cNvPr id="3" name="Textplatzhalter 2">
            <a:extLst>
              <a:ext uri="{FF2B5EF4-FFF2-40B4-BE49-F238E27FC236}">
                <a16:creationId xmlns:a16="http://schemas.microsoft.com/office/drawing/2014/main" id="{585640DA-8699-0ACF-0E7E-02C3C53F5CFA}"/>
              </a:ext>
            </a:extLst>
          </p:cNvPr>
          <p:cNvSpPr>
            <a:spLocks noGrp="1"/>
          </p:cNvSpPr>
          <p:nvPr>
            <p:ph type="body" sz="quarter" idx="11" hasCustomPrompt="1"/>
          </p:nvPr>
        </p:nvSpPr>
        <p:spPr>
          <a:xfrm>
            <a:off x="498475" y="2907348"/>
            <a:ext cx="1971730" cy="319532"/>
          </a:xfrm>
        </p:spPr>
        <p:txBody>
          <a:bodyPr/>
          <a:lstStyle>
            <a:lvl1pPr>
              <a:defRPr lang="de-DE" sz="1600" b="0" i="0" kern="1200" dirty="0">
                <a:solidFill>
                  <a:srgbClr val="002A86"/>
                </a:solidFill>
                <a:latin typeface="+mn-lt"/>
                <a:ea typeface="+mn-ea"/>
                <a:cs typeface="+mn-cs"/>
              </a:defRPr>
            </a:lvl1p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de-DE"/>
              <a:t>Contact </a:t>
            </a:r>
            <a:r>
              <a:rPr lang="de-DE" err="1"/>
              <a:t>information</a:t>
            </a:r>
            <a:r>
              <a:rPr lang="de-DE"/>
              <a:t>:</a:t>
            </a:r>
          </a:p>
        </p:txBody>
      </p:sp>
      <p:pic>
        <p:nvPicPr>
          <p:cNvPr id="5" name="Picture 4">
            <a:extLst>
              <a:ext uri="{FF2B5EF4-FFF2-40B4-BE49-F238E27FC236}">
                <a16:creationId xmlns:a16="http://schemas.microsoft.com/office/drawing/2014/main" id="{0E325E92-A092-A296-1447-24BF65F53C0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165659" y="5990000"/>
            <a:ext cx="3506403" cy="360000"/>
          </a:xfrm>
          <a:prstGeom prst="rect">
            <a:avLst/>
          </a:prstGeom>
        </p:spPr>
      </p:pic>
      <p:pic>
        <p:nvPicPr>
          <p:cNvPr id="2" name="object 10">
            <a:extLst>
              <a:ext uri="{FF2B5EF4-FFF2-40B4-BE49-F238E27FC236}">
                <a16:creationId xmlns:a16="http://schemas.microsoft.com/office/drawing/2014/main" id="{ED80F4D0-39E0-3001-D857-22E184EE8430}"/>
              </a:ext>
            </a:extLst>
          </p:cNvPr>
          <p:cNvPicPr/>
          <p:nvPr userDrawn="1"/>
        </p:nvPicPr>
        <p:blipFill>
          <a:blip r:embed="rId3"/>
          <a:srcRect/>
          <a:stretch/>
        </p:blipFill>
        <p:spPr>
          <a:xfrm>
            <a:off x="498475" y="270676"/>
            <a:ext cx="1516538" cy="214362"/>
          </a:xfrm>
          <a:prstGeom prst="rect">
            <a:avLst/>
          </a:prstGeom>
        </p:spPr>
      </p:pic>
      <p:sp>
        <p:nvSpPr>
          <p:cNvPr id="6" name="TextBox 5">
            <a:extLst>
              <a:ext uri="{FF2B5EF4-FFF2-40B4-BE49-F238E27FC236}">
                <a16:creationId xmlns:a16="http://schemas.microsoft.com/office/drawing/2014/main" id="{A08B9B42-EDE1-7CEF-B9DE-167E9A24E95C}"/>
              </a:ext>
            </a:extLst>
          </p:cNvPr>
          <p:cNvSpPr txBox="1"/>
          <p:nvPr userDrawn="1"/>
        </p:nvSpPr>
        <p:spPr>
          <a:xfrm>
            <a:off x="5335150" y="3311951"/>
            <a:ext cx="3185991"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i="0" kern="0">
                <a:solidFill>
                  <a:srgbClr val="00144A"/>
                </a:solidFill>
                <a:latin typeface="72 Brand" panose="020B0504030603020204" pitchFamily="34" charset="0"/>
                <a:ea typeface="72 Brand" pitchFamily="34" charset="-128"/>
                <a:cs typeface="72 Brand" pitchFamily="34" charset="-128"/>
              </a:rPr>
              <a:t>Thank you!</a:t>
            </a:r>
          </a:p>
        </p:txBody>
      </p:sp>
      <p:pic>
        <p:nvPicPr>
          <p:cNvPr id="4" name="Grafik 3" descr="Ein Bild, das Screenshot, Grafiken, Farbigkeit enthält.&#10;&#10;KI-generierte Inhalte können fehlerhaft sein.">
            <a:extLst>
              <a:ext uri="{FF2B5EF4-FFF2-40B4-BE49-F238E27FC236}">
                <a16:creationId xmlns:a16="http://schemas.microsoft.com/office/drawing/2014/main" id="{4FB77C3D-C803-A0A6-A0C2-0A302AF0A3F1}"/>
              </a:ext>
            </a:extLst>
          </p:cNvPr>
          <p:cNvPicPr>
            <a:picLocks noChangeAspect="1"/>
          </p:cNvPicPr>
          <p:nvPr userDrawn="1"/>
        </p:nvPicPr>
        <p:blipFill>
          <a:blip r:embed="rId4"/>
          <a:stretch>
            <a:fillRect/>
          </a:stretch>
        </p:blipFill>
        <p:spPr>
          <a:xfrm>
            <a:off x="2850611" y="196947"/>
            <a:ext cx="9903657" cy="5570807"/>
          </a:xfrm>
          <a:prstGeom prst="rect">
            <a:avLst/>
          </a:prstGeom>
        </p:spPr>
      </p:pic>
    </p:spTree>
    <p:extLst>
      <p:ext uri="{BB962C8B-B14F-4D97-AF65-F5344CB8AC3E}">
        <p14:creationId xmlns:p14="http://schemas.microsoft.com/office/powerpoint/2010/main" val="2046898577"/>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51160137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guide id="6" orient="horz" pos="1152">
          <p15:clr>
            <a:srgbClr val="FBAE40"/>
          </p15:clr>
        </p15:guide>
        <p15:guide id="7" orient="horz" pos="352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334119"/>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90.xml"/><Relationship Id="rId21" Type="http://schemas.openxmlformats.org/officeDocument/2006/relationships/slideLayout" Target="../slideLayouts/slideLayout21.xml"/><Relationship Id="rId42" Type="http://schemas.openxmlformats.org/officeDocument/2006/relationships/tags" Target="../tags/tag15.xml"/><Relationship Id="rId63" Type="http://schemas.openxmlformats.org/officeDocument/2006/relationships/tags" Target="../tags/tag36.xml"/><Relationship Id="rId84" Type="http://schemas.openxmlformats.org/officeDocument/2006/relationships/tags" Target="../tags/tag57.xml"/><Relationship Id="rId138" Type="http://schemas.openxmlformats.org/officeDocument/2006/relationships/tags" Target="../tags/tag111.xml"/><Relationship Id="rId107" Type="http://schemas.openxmlformats.org/officeDocument/2006/relationships/tags" Target="../tags/tag80.xml"/><Relationship Id="rId11" Type="http://schemas.openxmlformats.org/officeDocument/2006/relationships/slideLayout" Target="../slideLayouts/slideLayout11.xml"/><Relationship Id="rId32" Type="http://schemas.openxmlformats.org/officeDocument/2006/relationships/tags" Target="../tags/tag5.xml"/><Relationship Id="rId53" Type="http://schemas.openxmlformats.org/officeDocument/2006/relationships/tags" Target="../tags/tag26.xml"/><Relationship Id="rId74" Type="http://schemas.openxmlformats.org/officeDocument/2006/relationships/tags" Target="../tags/tag47.xml"/><Relationship Id="rId128" Type="http://schemas.openxmlformats.org/officeDocument/2006/relationships/tags" Target="../tags/tag101.xml"/><Relationship Id="rId149" Type="http://schemas.openxmlformats.org/officeDocument/2006/relationships/tags" Target="../tags/tag122.xml"/><Relationship Id="rId5" Type="http://schemas.openxmlformats.org/officeDocument/2006/relationships/slideLayout" Target="../slideLayouts/slideLayout5.xml"/><Relationship Id="rId95" Type="http://schemas.openxmlformats.org/officeDocument/2006/relationships/tags" Target="../tags/tag68.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tags" Target="../tags/tag16.xml"/><Relationship Id="rId48" Type="http://schemas.openxmlformats.org/officeDocument/2006/relationships/tags" Target="../tags/tag21.xml"/><Relationship Id="rId64" Type="http://schemas.openxmlformats.org/officeDocument/2006/relationships/tags" Target="../tags/tag37.xml"/><Relationship Id="rId69" Type="http://schemas.openxmlformats.org/officeDocument/2006/relationships/tags" Target="../tags/tag42.xml"/><Relationship Id="rId113" Type="http://schemas.openxmlformats.org/officeDocument/2006/relationships/tags" Target="../tags/tag86.xml"/><Relationship Id="rId118" Type="http://schemas.openxmlformats.org/officeDocument/2006/relationships/tags" Target="../tags/tag91.xml"/><Relationship Id="rId134" Type="http://schemas.openxmlformats.org/officeDocument/2006/relationships/tags" Target="../tags/tag107.xml"/><Relationship Id="rId139" Type="http://schemas.openxmlformats.org/officeDocument/2006/relationships/tags" Target="../tags/tag112.xml"/><Relationship Id="rId80" Type="http://schemas.openxmlformats.org/officeDocument/2006/relationships/tags" Target="../tags/tag53.xml"/><Relationship Id="rId85" Type="http://schemas.openxmlformats.org/officeDocument/2006/relationships/tags" Target="../tags/tag58.xml"/><Relationship Id="rId150" Type="http://schemas.openxmlformats.org/officeDocument/2006/relationships/tags" Target="../tags/tag12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6.xml"/><Relationship Id="rId38" Type="http://schemas.openxmlformats.org/officeDocument/2006/relationships/tags" Target="../tags/tag11.xml"/><Relationship Id="rId59" Type="http://schemas.openxmlformats.org/officeDocument/2006/relationships/tags" Target="../tags/tag32.xml"/><Relationship Id="rId103" Type="http://schemas.openxmlformats.org/officeDocument/2006/relationships/tags" Target="../tags/tag76.xml"/><Relationship Id="rId108" Type="http://schemas.openxmlformats.org/officeDocument/2006/relationships/tags" Target="../tags/tag81.xml"/><Relationship Id="rId124" Type="http://schemas.openxmlformats.org/officeDocument/2006/relationships/tags" Target="../tags/tag97.xml"/><Relationship Id="rId129" Type="http://schemas.openxmlformats.org/officeDocument/2006/relationships/tags" Target="../tags/tag102.xml"/><Relationship Id="rId54" Type="http://schemas.openxmlformats.org/officeDocument/2006/relationships/tags" Target="../tags/tag27.xml"/><Relationship Id="rId70" Type="http://schemas.openxmlformats.org/officeDocument/2006/relationships/tags" Target="../tags/tag43.xml"/><Relationship Id="rId75" Type="http://schemas.openxmlformats.org/officeDocument/2006/relationships/tags" Target="../tags/tag48.xml"/><Relationship Id="rId91" Type="http://schemas.openxmlformats.org/officeDocument/2006/relationships/tags" Target="../tags/tag64.xml"/><Relationship Id="rId96" Type="http://schemas.openxmlformats.org/officeDocument/2006/relationships/tags" Target="../tags/tag69.xml"/><Relationship Id="rId140" Type="http://schemas.openxmlformats.org/officeDocument/2006/relationships/tags" Target="../tags/tag113.xml"/><Relationship Id="rId145" Type="http://schemas.openxmlformats.org/officeDocument/2006/relationships/tags" Target="../tags/tag118.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theme" Target="../theme/theme1.xml"/><Relationship Id="rId49" Type="http://schemas.openxmlformats.org/officeDocument/2006/relationships/tags" Target="../tags/tag22.xml"/><Relationship Id="rId114" Type="http://schemas.openxmlformats.org/officeDocument/2006/relationships/tags" Target="../tags/tag87.xml"/><Relationship Id="rId119" Type="http://schemas.openxmlformats.org/officeDocument/2006/relationships/tags" Target="../tags/tag92.xml"/><Relationship Id="rId44" Type="http://schemas.openxmlformats.org/officeDocument/2006/relationships/tags" Target="../tags/tag17.xml"/><Relationship Id="rId60" Type="http://schemas.openxmlformats.org/officeDocument/2006/relationships/tags" Target="../tags/tag33.xml"/><Relationship Id="rId65" Type="http://schemas.openxmlformats.org/officeDocument/2006/relationships/tags" Target="../tags/tag38.xml"/><Relationship Id="rId81" Type="http://schemas.openxmlformats.org/officeDocument/2006/relationships/tags" Target="../tags/tag54.xml"/><Relationship Id="rId86" Type="http://schemas.openxmlformats.org/officeDocument/2006/relationships/tags" Target="../tags/tag59.xml"/><Relationship Id="rId130" Type="http://schemas.openxmlformats.org/officeDocument/2006/relationships/tags" Target="../tags/tag103.xml"/><Relationship Id="rId135" Type="http://schemas.openxmlformats.org/officeDocument/2006/relationships/tags" Target="../tags/tag108.xml"/><Relationship Id="rId151" Type="http://schemas.openxmlformats.org/officeDocument/2006/relationships/tags" Target="../tags/tag124.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2.xml"/><Relationship Id="rId109" Type="http://schemas.openxmlformats.org/officeDocument/2006/relationships/tags" Target="../tags/tag82.xml"/><Relationship Id="rId34" Type="http://schemas.openxmlformats.org/officeDocument/2006/relationships/tags" Target="../tags/tag7.xml"/><Relationship Id="rId50" Type="http://schemas.openxmlformats.org/officeDocument/2006/relationships/tags" Target="../tags/tag23.xml"/><Relationship Id="rId55" Type="http://schemas.openxmlformats.org/officeDocument/2006/relationships/tags" Target="../tags/tag28.xml"/><Relationship Id="rId76" Type="http://schemas.openxmlformats.org/officeDocument/2006/relationships/tags" Target="../tags/tag49.xml"/><Relationship Id="rId97" Type="http://schemas.openxmlformats.org/officeDocument/2006/relationships/tags" Target="../tags/tag70.xml"/><Relationship Id="rId104" Type="http://schemas.openxmlformats.org/officeDocument/2006/relationships/tags" Target="../tags/tag77.xml"/><Relationship Id="rId120" Type="http://schemas.openxmlformats.org/officeDocument/2006/relationships/tags" Target="../tags/tag93.xml"/><Relationship Id="rId125" Type="http://schemas.openxmlformats.org/officeDocument/2006/relationships/tags" Target="../tags/tag98.xml"/><Relationship Id="rId141" Type="http://schemas.openxmlformats.org/officeDocument/2006/relationships/tags" Target="../tags/tag114.xml"/><Relationship Id="rId146" Type="http://schemas.openxmlformats.org/officeDocument/2006/relationships/tags" Target="../tags/tag119.xml"/><Relationship Id="rId7" Type="http://schemas.openxmlformats.org/officeDocument/2006/relationships/slideLayout" Target="../slideLayouts/slideLayout7.xml"/><Relationship Id="rId71" Type="http://schemas.openxmlformats.org/officeDocument/2006/relationships/tags" Target="../tags/tag44.xml"/><Relationship Id="rId92" Type="http://schemas.openxmlformats.org/officeDocument/2006/relationships/tags" Target="../tags/tag65.xml"/><Relationship Id="rId2" Type="http://schemas.openxmlformats.org/officeDocument/2006/relationships/slideLayout" Target="../slideLayouts/slideLayout2.xml"/><Relationship Id="rId29" Type="http://schemas.openxmlformats.org/officeDocument/2006/relationships/tags" Target="../tags/tag2.xml"/><Relationship Id="rId24" Type="http://schemas.openxmlformats.org/officeDocument/2006/relationships/slideLayout" Target="../slideLayouts/slideLayout24.xml"/><Relationship Id="rId40" Type="http://schemas.openxmlformats.org/officeDocument/2006/relationships/tags" Target="../tags/tag13.xml"/><Relationship Id="rId45" Type="http://schemas.openxmlformats.org/officeDocument/2006/relationships/tags" Target="../tags/tag18.xml"/><Relationship Id="rId66" Type="http://schemas.openxmlformats.org/officeDocument/2006/relationships/tags" Target="../tags/tag39.xml"/><Relationship Id="rId87" Type="http://schemas.openxmlformats.org/officeDocument/2006/relationships/tags" Target="../tags/tag60.xml"/><Relationship Id="rId110" Type="http://schemas.openxmlformats.org/officeDocument/2006/relationships/tags" Target="../tags/tag83.xml"/><Relationship Id="rId115" Type="http://schemas.openxmlformats.org/officeDocument/2006/relationships/tags" Target="../tags/tag88.xml"/><Relationship Id="rId131" Type="http://schemas.openxmlformats.org/officeDocument/2006/relationships/tags" Target="../tags/tag104.xml"/><Relationship Id="rId136" Type="http://schemas.openxmlformats.org/officeDocument/2006/relationships/tags" Target="../tags/tag109.xml"/><Relationship Id="rId61" Type="http://schemas.openxmlformats.org/officeDocument/2006/relationships/tags" Target="../tags/tag34.xml"/><Relationship Id="rId82" Type="http://schemas.openxmlformats.org/officeDocument/2006/relationships/tags" Target="../tags/tag5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tags" Target="../tags/tag3.xml"/><Relationship Id="rId35" Type="http://schemas.openxmlformats.org/officeDocument/2006/relationships/tags" Target="../tags/tag8.xml"/><Relationship Id="rId56" Type="http://schemas.openxmlformats.org/officeDocument/2006/relationships/tags" Target="../tags/tag29.xml"/><Relationship Id="rId77" Type="http://schemas.openxmlformats.org/officeDocument/2006/relationships/tags" Target="../tags/tag50.xml"/><Relationship Id="rId100" Type="http://schemas.openxmlformats.org/officeDocument/2006/relationships/tags" Target="../tags/tag73.xml"/><Relationship Id="rId105" Type="http://schemas.openxmlformats.org/officeDocument/2006/relationships/tags" Target="../tags/tag78.xml"/><Relationship Id="rId126" Type="http://schemas.openxmlformats.org/officeDocument/2006/relationships/tags" Target="../tags/tag99.xml"/><Relationship Id="rId147" Type="http://schemas.openxmlformats.org/officeDocument/2006/relationships/tags" Target="../tags/tag120.xml"/><Relationship Id="rId8" Type="http://schemas.openxmlformats.org/officeDocument/2006/relationships/slideLayout" Target="../slideLayouts/slideLayout8.xml"/><Relationship Id="rId51" Type="http://schemas.openxmlformats.org/officeDocument/2006/relationships/tags" Target="../tags/tag24.xml"/><Relationship Id="rId72" Type="http://schemas.openxmlformats.org/officeDocument/2006/relationships/tags" Target="../tags/tag45.xml"/><Relationship Id="rId93" Type="http://schemas.openxmlformats.org/officeDocument/2006/relationships/tags" Target="../tags/tag66.xml"/><Relationship Id="rId98" Type="http://schemas.openxmlformats.org/officeDocument/2006/relationships/tags" Target="../tags/tag71.xml"/><Relationship Id="rId121" Type="http://schemas.openxmlformats.org/officeDocument/2006/relationships/tags" Target="../tags/tag94.xml"/><Relationship Id="rId142" Type="http://schemas.openxmlformats.org/officeDocument/2006/relationships/tags" Target="../tags/tag115.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19.xml"/><Relationship Id="rId67" Type="http://schemas.openxmlformats.org/officeDocument/2006/relationships/tags" Target="../tags/tag40.xml"/><Relationship Id="rId116" Type="http://schemas.openxmlformats.org/officeDocument/2006/relationships/tags" Target="../tags/tag89.xml"/><Relationship Id="rId137" Type="http://schemas.openxmlformats.org/officeDocument/2006/relationships/tags" Target="../tags/tag110.xml"/><Relationship Id="rId20" Type="http://schemas.openxmlformats.org/officeDocument/2006/relationships/slideLayout" Target="../slideLayouts/slideLayout20.xml"/><Relationship Id="rId41" Type="http://schemas.openxmlformats.org/officeDocument/2006/relationships/tags" Target="../tags/tag14.xml"/><Relationship Id="rId62" Type="http://schemas.openxmlformats.org/officeDocument/2006/relationships/tags" Target="../tags/tag35.xml"/><Relationship Id="rId83" Type="http://schemas.openxmlformats.org/officeDocument/2006/relationships/tags" Target="../tags/tag56.xml"/><Relationship Id="rId88" Type="http://schemas.openxmlformats.org/officeDocument/2006/relationships/tags" Target="../tags/tag61.xml"/><Relationship Id="rId111" Type="http://schemas.openxmlformats.org/officeDocument/2006/relationships/tags" Target="../tags/tag84.xml"/><Relationship Id="rId132" Type="http://schemas.openxmlformats.org/officeDocument/2006/relationships/tags" Target="../tags/tag105.xml"/><Relationship Id="rId15" Type="http://schemas.openxmlformats.org/officeDocument/2006/relationships/slideLayout" Target="../slideLayouts/slideLayout15.xml"/><Relationship Id="rId36" Type="http://schemas.openxmlformats.org/officeDocument/2006/relationships/tags" Target="../tags/tag9.xml"/><Relationship Id="rId57" Type="http://schemas.openxmlformats.org/officeDocument/2006/relationships/tags" Target="../tags/tag30.xml"/><Relationship Id="rId106" Type="http://schemas.openxmlformats.org/officeDocument/2006/relationships/tags" Target="../tags/tag79.xml"/><Relationship Id="rId127" Type="http://schemas.openxmlformats.org/officeDocument/2006/relationships/tags" Target="../tags/tag100.xml"/><Relationship Id="rId10" Type="http://schemas.openxmlformats.org/officeDocument/2006/relationships/slideLayout" Target="../slideLayouts/slideLayout10.xml"/><Relationship Id="rId31" Type="http://schemas.openxmlformats.org/officeDocument/2006/relationships/tags" Target="../tags/tag4.xml"/><Relationship Id="rId52" Type="http://schemas.openxmlformats.org/officeDocument/2006/relationships/tags" Target="../tags/tag25.xml"/><Relationship Id="rId73" Type="http://schemas.openxmlformats.org/officeDocument/2006/relationships/tags" Target="../tags/tag46.xml"/><Relationship Id="rId78" Type="http://schemas.openxmlformats.org/officeDocument/2006/relationships/tags" Target="../tags/tag51.xml"/><Relationship Id="rId94" Type="http://schemas.openxmlformats.org/officeDocument/2006/relationships/tags" Target="../tags/tag67.xml"/><Relationship Id="rId99" Type="http://schemas.openxmlformats.org/officeDocument/2006/relationships/tags" Target="../tags/tag72.xml"/><Relationship Id="rId101" Type="http://schemas.openxmlformats.org/officeDocument/2006/relationships/tags" Target="../tags/tag74.xml"/><Relationship Id="rId122" Type="http://schemas.openxmlformats.org/officeDocument/2006/relationships/tags" Target="../tags/tag95.xml"/><Relationship Id="rId143" Type="http://schemas.openxmlformats.org/officeDocument/2006/relationships/tags" Target="../tags/tag116.xml"/><Relationship Id="rId148" Type="http://schemas.openxmlformats.org/officeDocument/2006/relationships/tags" Target="../tags/tag121.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20.xml"/><Relationship Id="rId68" Type="http://schemas.openxmlformats.org/officeDocument/2006/relationships/tags" Target="../tags/tag41.xml"/><Relationship Id="rId89" Type="http://schemas.openxmlformats.org/officeDocument/2006/relationships/tags" Target="../tags/tag62.xml"/><Relationship Id="rId112" Type="http://schemas.openxmlformats.org/officeDocument/2006/relationships/tags" Target="../tags/tag85.xml"/><Relationship Id="rId133" Type="http://schemas.openxmlformats.org/officeDocument/2006/relationships/tags" Target="../tags/tag106.xml"/><Relationship Id="rId16" Type="http://schemas.openxmlformats.org/officeDocument/2006/relationships/slideLayout" Target="../slideLayouts/slideLayout16.xml"/><Relationship Id="rId37" Type="http://schemas.openxmlformats.org/officeDocument/2006/relationships/tags" Target="../tags/tag10.xml"/><Relationship Id="rId58" Type="http://schemas.openxmlformats.org/officeDocument/2006/relationships/tags" Target="../tags/tag31.xml"/><Relationship Id="rId79" Type="http://schemas.openxmlformats.org/officeDocument/2006/relationships/tags" Target="../tags/tag52.xml"/><Relationship Id="rId102" Type="http://schemas.openxmlformats.org/officeDocument/2006/relationships/tags" Target="../tags/tag75.xml"/><Relationship Id="rId123" Type="http://schemas.openxmlformats.org/officeDocument/2006/relationships/tags" Target="../tags/tag96.xml"/><Relationship Id="rId144" Type="http://schemas.openxmlformats.org/officeDocument/2006/relationships/tags" Target="../tags/tag117.xml"/><Relationship Id="rId90" Type="http://schemas.openxmlformats.org/officeDocument/2006/relationships/tags" Target="../tags/tag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29"/>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48"/>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0"/>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3"/>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1"/>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5"/>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2"/>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3"/>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1957598096"/>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73">
          <p15:clr>
            <a:srgbClr val="F26B43"/>
          </p15:clr>
        </p15:guide>
        <p15:guide id="3" orient="horz" pos="317">
          <p15:clr>
            <a:srgbClr val="F26B43"/>
          </p15:clr>
        </p15:guide>
        <p15:guide id="4" pos="317">
          <p15:clr>
            <a:srgbClr val="F26B43"/>
          </p15:clr>
        </p15:guide>
        <p15:guide id="5" pos="7373">
          <p15:clr>
            <a:srgbClr val="F26B43"/>
          </p15:clr>
        </p15:guide>
        <p15:guide id="6" orient="horz" pos="399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jpg"/></Relationships>
</file>

<file path=ppt/slides/_rels/slide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27.svg"/></Relationships>
</file>

<file path=ppt/slides/_rels/slide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2.svg"/><Relationship Id="rId7" Type="http://schemas.openxmlformats.org/officeDocument/2006/relationships/image" Target="../media/image27.svg"/><Relationship Id="rId2" Type="http://schemas.openxmlformats.org/officeDocument/2006/relationships/image" Target="../media/image21.svg"/><Relationship Id="rId1" Type="http://schemas.openxmlformats.org/officeDocument/2006/relationships/slideLayout" Target="../slideLayouts/slideLayout26.xml"/><Relationship Id="rId6" Type="http://schemas.openxmlformats.org/officeDocument/2006/relationships/image" Target="../media/image26.svg"/><Relationship Id="rId5" Type="http://schemas.openxmlformats.org/officeDocument/2006/relationships/image" Target="../media/image24.svg"/><Relationship Id="rId4" Type="http://schemas.openxmlformats.org/officeDocument/2006/relationships/image" Target="../media/image23.svg"/><Relationship Id="rId9" Type="http://schemas.openxmlformats.org/officeDocument/2006/relationships/hyperlink" Target="https://community.sap.com/t5/technology-blog-posts-by-sap/unlocking-sap-ai-foundation-capabilities-in-sap-databricks-a-technical-deep/ba-p/1416243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AP-samples/teched2025-DA266" TargetMode="External"/><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464342D-719C-797C-4B96-D4E62377DB4B}"/>
              </a:ext>
            </a:extLst>
          </p:cNvPr>
          <p:cNvPicPr>
            <a:picLocks noChangeAspect="1"/>
          </p:cNvPicPr>
          <p:nvPr/>
        </p:nvPicPr>
        <p:blipFill>
          <a:blip r:embed="rId2"/>
          <a:stretch>
            <a:fillRect/>
          </a:stretch>
        </p:blipFill>
        <p:spPr>
          <a:xfrm>
            <a:off x="1499108" y="344836"/>
            <a:ext cx="7407626" cy="3310392"/>
          </a:xfrm>
          <a:prstGeom prst="rect">
            <a:avLst/>
          </a:prstGeom>
        </p:spPr>
      </p:pic>
      <p:pic>
        <p:nvPicPr>
          <p:cNvPr id="7" name="Picture 6">
            <a:extLst>
              <a:ext uri="{FF2B5EF4-FFF2-40B4-BE49-F238E27FC236}">
                <a16:creationId xmlns:a16="http://schemas.microsoft.com/office/drawing/2014/main" id="{72569F18-B168-013D-6E06-CED7EA6202D8}"/>
              </a:ext>
            </a:extLst>
          </p:cNvPr>
          <p:cNvPicPr>
            <a:picLocks noChangeAspect="1"/>
          </p:cNvPicPr>
          <p:nvPr/>
        </p:nvPicPr>
        <p:blipFill>
          <a:blip r:embed="rId3"/>
          <a:stretch>
            <a:fillRect/>
          </a:stretch>
        </p:blipFill>
        <p:spPr>
          <a:xfrm>
            <a:off x="1621985" y="3587364"/>
            <a:ext cx="11581472" cy="1038225"/>
          </a:xfrm>
          <a:prstGeom prst="rect">
            <a:avLst/>
          </a:prstGeom>
        </p:spPr>
      </p:pic>
      <p:pic>
        <p:nvPicPr>
          <p:cNvPr id="3" name="Picture 2" descr="A close-up of a person smiling&#10;&#10;AI-generated content may be incorrect.">
            <a:extLst>
              <a:ext uri="{FF2B5EF4-FFF2-40B4-BE49-F238E27FC236}">
                <a16:creationId xmlns:a16="http://schemas.microsoft.com/office/drawing/2014/main" id="{63888ACA-C729-EE21-C159-C702BC068447}"/>
              </a:ext>
            </a:extLst>
          </p:cNvPr>
          <p:cNvPicPr>
            <a:picLocks noChangeAspect="1"/>
          </p:cNvPicPr>
          <p:nvPr/>
        </p:nvPicPr>
        <p:blipFill>
          <a:blip r:embed="rId4"/>
          <a:stretch>
            <a:fillRect/>
          </a:stretch>
        </p:blipFill>
        <p:spPr>
          <a:xfrm>
            <a:off x="9460907" y="399266"/>
            <a:ext cx="1379048" cy="1894114"/>
          </a:xfrm>
          <a:prstGeom prst="rect">
            <a:avLst/>
          </a:prstGeom>
        </p:spPr>
      </p:pic>
      <p:sp>
        <p:nvSpPr>
          <p:cNvPr id="5" name="TextBox 4">
            <a:extLst>
              <a:ext uri="{FF2B5EF4-FFF2-40B4-BE49-F238E27FC236}">
                <a16:creationId xmlns:a16="http://schemas.microsoft.com/office/drawing/2014/main" id="{E738A7E3-7AC4-0B85-079D-EDCB2BEA9F6C}"/>
              </a:ext>
            </a:extLst>
          </p:cNvPr>
          <p:cNvSpPr txBox="1"/>
          <p:nvPr/>
        </p:nvSpPr>
        <p:spPr>
          <a:xfrm>
            <a:off x="9258957" y="2482869"/>
            <a:ext cx="1959428" cy="762001"/>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US" sz="1200" b="1" kern="0" dirty="0">
                <a:solidFill>
                  <a:schemeClr val="bg1"/>
                </a:solidFill>
                <a:latin typeface="72 Brand" panose="020B0504030603020204" pitchFamily="34" charset="0"/>
                <a:ea typeface="72 Brand" pitchFamily="34" charset="-128"/>
                <a:cs typeface="72 Brand" pitchFamily="34" charset="-128"/>
              </a:rPr>
              <a:t>Neetha </a:t>
            </a:r>
            <a:r>
              <a:rPr lang="en-US" sz="1200" b="1" kern="0" dirty="0" err="1">
                <a:solidFill>
                  <a:schemeClr val="bg1"/>
                </a:solidFill>
                <a:latin typeface="72 Brand" panose="020B0504030603020204" pitchFamily="34" charset="0"/>
                <a:ea typeface="72 Brand" pitchFamily="34" charset="-128"/>
                <a:cs typeface="72 Brand" pitchFamily="34" charset="-128"/>
              </a:rPr>
              <a:t>Pucknat</a:t>
            </a:r>
            <a:endParaRPr lang="en-US" sz="1200" b="1" kern="0" dirty="0">
              <a:solidFill>
                <a:schemeClr val="bg1"/>
              </a:solidFill>
              <a:latin typeface="72 Brand" panose="020B0504030603020204" pitchFamily="34" charset="0"/>
              <a:ea typeface="72 Brand" pitchFamily="34" charset="-128"/>
              <a:cs typeface="72 Brand" pitchFamily="34" charset="-128"/>
            </a:endParaRPr>
          </a:p>
          <a:p>
            <a:pPr algn="ctr" fontAlgn="base">
              <a:spcBef>
                <a:spcPct val="50000"/>
              </a:spcBef>
              <a:spcAft>
                <a:spcPct val="0"/>
              </a:spcAft>
              <a:buClr>
                <a:schemeClr val="tx1"/>
              </a:buClr>
              <a:buSzPct val="100000"/>
            </a:pPr>
            <a:r>
              <a:rPr lang="en-US" sz="1200" b="1" kern="0" dirty="0">
                <a:solidFill>
                  <a:schemeClr val="bg1"/>
                </a:solidFill>
                <a:latin typeface="72 Brand" panose="020B0504030603020204" pitchFamily="34" charset="0"/>
                <a:ea typeface="72 Brand" pitchFamily="34" charset="-128"/>
                <a:cs typeface="72 Brand" pitchFamily="34" charset="-128"/>
              </a:rPr>
              <a:t>Senior Product Specialist</a:t>
            </a:r>
          </a:p>
          <a:p>
            <a:pPr algn="ctr" fontAlgn="base">
              <a:spcBef>
                <a:spcPct val="50000"/>
              </a:spcBef>
              <a:spcAft>
                <a:spcPct val="0"/>
              </a:spcAft>
              <a:buClr>
                <a:schemeClr val="tx1"/>
              </a:buClr>
              <a:buSzPct val="100000"/>
            </a:pPr>
            <a:r>
              <a:rPr lang="en-US" sz="1200" b="1" kern="0" dirty="0">
                <a:solidFill>
                  <a:schemeClr val="bg1"/>
                </a:solidFill>
                <a:latin typeface="72 Brand" panose="020B0504030603020204" pitchFamily="34" charset="0"/>
                <a:ea typeface="72 Brand" pitchFamily="34" charset="-128"/>
                <a:cs typeface="72 Brand" pitchFamily="34" charset="-128"/>
              </a:rPr>
              <a:t>SAP Business Data Cloud</a:t>
            </a:r>
          </a:p>
        </p:txBody>
      </p:sp>
      <p:sp>
        <p:nvSpPr>
          <p:cNvPr id="8" name="TextBox 7">
            <a:extLst>
              <a:ext uri="{FF2B5EF4-FFF2-40B4-BE49-F238E27FC236}">
                <a16:creationId xmlns:a16="http://schemas.microsoft.com/office/drawing/2014/main" id="{650C4EE4-F673-4195-FB4E-3300739F9247}"/>
              </a:ext>
            </a:extLst>
          </p:cNvPr>
          <p:cNvSpPr txBox="1"/>
          <p:nvPr/>
        </p:nvSpPr>
        <p:spPr>
          <a:xfrm>
            <a:off x="9170717" y="5535908"/>
            <a:ext cx="1959428" cy="762001"/>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US" sz="1200" b="1" kern="0" dirty="0" err="1">
                <a:solidFill>
                  <a:schemeClr val="bg1"/>
                </a:solidFill>
                <a:latin typeface="72 Brand" panose="020B0504030603020204" pitchFamily="34" charset="0"/>
                <a:ea typeface="72 Brand" pitchFamily="34" charset="-128"/>
                <a:cs typeface="72 Brand" pitchFamily="34" charset="-128"/>
              </a:rPr>
              <a:t>Rithivika</a:t>
            </a:r>
            <a:r>
              <a:rPr lang="en-US" sz="1200" b="1" kern="0" dirty="0">
                <a:solidFill>
                  <a:schemeClr val="bg1"/>
                </a:solidFill>
                <a:latin typeface="72 Brand" panose="020B0504030603020204" pitchFamily="34" charset="0"/>
                <a:ea typeface="72 Brand" pitchFamily="34" charset="-128"/>
                <a:cs typeface="72 Brand" pitchFamily="34" charset="-128"/>
              </a:rPr>
              <a:t> Acharya</a:t>
            </a:r>
          </a:p>
          <a:p>
            <a:pPr algn="ctr" fontAlgn="base">
              <a:spcBef>
                <a:spcPct val="50000"/>
              </a:spcBef>
              <a:spcAft>
                <a:spcPct val="0"/>
              </a:spcAft>
              <a:buClr>
                <a:schemeClr val="tx1"/>
              </a:buClr>
              <a:buSzPct val="100000"/>
            </a:pPr>
            <a:r>
              <a:rPr lang="en-US" sz="1200" b="1" kern="0" dirty="0">
                <a:solidFill>
                  <a:schemeClr val="bg1"/>
                </a:solidFill>
                <a:latin typeface="72 Brand" panose="020B0504030603020204" pitchFamily="34" charset="0"/>
                <a:ea typeface="72 Brand" pitchFamily="34" charset="-128"/>
                <a:cs typeface="72 Brand" pitchFamily="34" charset="-128"/>
              </a:rPr>
              <a:t>Senior Product Specialist</a:t>
            </a:r>
          </a:p>
          <a:p>
            <a:pPr algn="ctr" fontAlgn="base">
              <a:spcBef>
                <a:spcPct val="50000"/>
              </a:spcBef>
              <a:spcAft>
                <a:spcPct val="0"/>
              </a:spcAft>
              <a:buClr>
                <a:schemeClr val="tx1"/>
              </a:buClr>
              <a:buSzPct val="100000"/>
            </a:pPr>
            <a:r>
              <a:rPr lang="en-US" sz="1200" b="1" kern="0" dirty="0">
                <a:solidFill>
                  <a:schemeClr val="bg1"/>
                </a:solidFill>
                <a:latin typeface="72 Brand" panose="020B0504030603020204" pitchFamily="34" charset="0"/>
                <a:ea typeface="72 Brand" pitchFamily="34" charset="-128"/>
                <a:cs typeface="72 Brand" pitchFamily="34" charset="-128"/>
              </a:rPr>
              <a:t>SAP Business Data Cloud</a:t>
            </a:r>
          </a:p>
        </p:txBody>
      </p:sp>
      <p:pic>
        <p:nvPicPr>
          <p:cNvPr id="2" name="Picture 1">
            <a:extLst>
              <a:ext uri="{FF2B5EF4-FFF2-40B4-BE49-F238E27FC236}">
                <a16:creationId xmlns:a16="http://schemas.microsoft.com/office/drawing/2014/main" id="{DDADB072-6B97-F97D-0AE6-58C36746A50A}"/>
              </a:ext>
            </a:extLst>
          </p:cNvPr>
          <p:cNvPicPr>
            <a:picLocks noChangeAspect="1"/>
          </p:cNvPicPr>
          <p:nvPr/>
        </p:nvPicPr>
        <p:blipFill>
          <a:blip r:embed="rId5"/>
          <a:srcRect l="17843" r="25139"/>
          <a:stretch>
            <a:fillRect/>
          </a:stretch>
        </p:blipFill>
        <p:spPr>
          <a:xfrm>
            <a:off x="9335145" y="3429000"/>
            <a:ext cx="1630571" cy="1901712"/>
          </a:xfrm>
          <a:prstGeom prst="rect">
            <a:avLst/>
          </a:prstGeom>
        </p:spPr>
      </p:pic>
    </p:spTree>
    <p:extLst>
      <p:ext uri="{BB962C8B-B14F-4D97-AF65-F5344CB8AC3E}">
        <p14:creationId xmlns:p14="http://schemas.microsoft.com/office/powerpoint/2010/main" val="2959052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BC718-B9D7-D7A3-D9DE-68BED7DE6A16}"/>
            </a:ext>
          </a:extLst>
        </p:cNvPr>
        <p:cNvGrpSpPr/>
        <p:nvPr/>
      </p:nvGrpSpPr>
      <p:grpSpPr>
        <a:xfrm>
          <a:off x="0" y="0"/>
          <a:ext cx="0" cy="0"/>
          <a:chOff x="0" y="0"/>
          <a:chExt cx="0" cy="0"/>
        </a:xfrm>
      </p:grpSpPr>
      <p:sp>
        <p:nvSpPr>
          <p:cNvPr id="1185" name="Rounded Rectangle 23">
            <a:extLst>
              <a:ext uri="{FF2B5EF4-FFF2-40B4-BE49-F238E27FC236}">
                <a16:creationId xmlns:a16="http://schemas.microsoft.com/office/drawing/2014/main" id="{F45EA84A-7885-327A-3745-43A11CEA7B76}"/>
              </a:ext>
            </a:extLst>
          </p:cNvPr>
          <p:cNvSpPr/>
          <p:nvPr/>
        </p:nvSpPr>
        <p:spPr bwMode="gray">
          <a:xfrm>
            <a:off x="6649313" y="3374339"/>
            <a:ext cx="1694403" cy="851791"/>
          </a:xfrm>
          <a:prstGeom prst="roundRect">
            <a:avLst>
              <a:gd name="adj" fmla="val 2921"/>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Datasphere</a:t>
            </a:r>
          </a:p>
        </p:txBody>
      </p:sp>
      <p:sp>
        <p:nvSpPr>
          <p:cNvPr id="3" name="Abgerundetes Rechteck 206">
            <a:extLst>
              <a:ext uri="{FF2B5EF4-FFF2-40B4-BE49-F238E27FC236}">
                <a16:creationId xmlns:a16="http://schemas.microsoft.com/office/drawing/2014/main" id="{67BC7869-7BCC-697F-CB71-FBAFF4A4C21A}"/>
              </a:ext>
            </a:extLst>
          </p:cNvPr>
          <p:cNvSpPr/>
          <p:nvPr/>
        </p:nvSpPr>
        <p:spPr bwMode="gray">
          <a:xfrm>
            <a:off x="188259" y="975994"/>
            <a:ext cx="8482775" cy="1411562"/>
          </a:xfrm>
          <a:prstGeom prst="roundRect">
            <a:avLst>
              <a:gd name="adj" fmla="val 5626"/>
            </a:avLst>
          </a:prstGeom>
          <a:noFill/>
          <a:ln w="9525" algn="ctr">
            <a:solidFill>
              <a:srgbClr val="ACB6C0"/>
            </a:solidFill>
            <a:miter lim="800000"/>
            <a:headEnd/>
            <a:tailEnd/>
          </a:ln>
        </p:spPr>
        <p:txBody>
          <a:bodyPr lIns="90000" tIns="72000" rIns="90000" bIns="72000" rtlCol="0" anchor="t" anchorCtr="0"/>
          <a:lstStyle/>
          <a:p>
            <a:pPr defTabSz="914400" fontAlgn="base">
              <a:spcBef>
                <a:spcPct val="50000"/>
              </a:spcBef>
              <a:spcAft>
                <a:spcPct val="0"/>
              </a:spcAft>
              <a:buClr>
                <a:srgbClr val="F0AB00"/>
              </a:buClr>
              <a:buSzPct val="80000"/>
            </a:pPr>
            <a:r>
              <a:rPr lang="en-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rPr>
              <a:t>Scenario: Cashflow Forecast</a:t>
            </a:r>
          </a:p>
          <a:p>
            <a:pPr defTabSz="914400" fontAlgn="base">
              <a:spcBef>
                <a:spcPct val="50000"/>
              </a:spcBef>
              <a:spcAft>
                <a:spcPct val="0"/>
              </a:spcAft>
              <a:buClr>
                <a:srgbClr val="F0AB00"/>
              </a:buClr>
              <a:buSzPct val="80000"/>
            </a:pPr>
            <a:r>
              <a:rPr lang="en-DE" sz="1200">
                <a:latin typeface="72 Brand" panose="020B0504030603020204" pitchFamily="34" charset="0"/>
              </a:rPr>
              <a:t>The data scientist wants to forecast the cashflow for the upcoming 6 months and make the result available for reporting. For that he needs to access the cashflow data product from S/4HANA, apply ML/AI model training and forecasting, and share / install the enriched data product in BDC Cockpit and Datasphere. </a:t>
            </a:r>
            <a:endParaRPr lang="en-DE" sz="1200" b="1" kern="0">
              <a:solidFill>
                <a:schemeClr val="bg2">
                  <a:lumMod val="75000"/>
                </a:schemeClr>
              </a:solidFill>
              <a:latin typeface="72 Brand" panose="020B0504030603020204" pitchFamily="34" charset="0"/>
              <a:ea typeface="Arial Unicode MS" pitchFamily="34" charset="-128"/>
              <a:sym typeface="72" panose="020B0503030000000003" pitchFamily="34" charset="0"/>
            </a:endParaRPr>
          </a:p>
          <a:p>
            <a:pPr defTabSz="914400" fontAlgn="base">
              <a:spcBef>
                <a:spcPct val="50000"/>
              </a:spcBef>
              <a:spcAft>
                <a:spcPct val="0"/>
              </a:spcAft>
              <a:buClr>
                <a:srgbClr val="F0AB00"/>
              </a:buClr>
              <a:buSzPct val="80000"/>
            </a:pPr>
            <a:endParaRPr lang="de-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endParaRPr>
          </a:p>
        </p:txBody>
      </p:sp>
      <p:sp>
        <p:nvSpPr>
          <p:cNvPr id="8" name="Rectangle 101">
            <a:extLst>
              <a:ext uri="{FF2B5EF4-FFF2-40B4-BE49-F238E27FC236}">
                <a16:creationId xmlns:a16="http://schemas.microsoft.com/office/drawing/2014/main" id="{E4605E47-E2F2-E872-A9AC-88E3DD6D706F}"/>
              </a:ext>
            </a:extLst>
          </p:cNvPr>
          <p:cNvSpPr/>
          <p:nvPr/>
        </p:nvSpPr>
        <p:spPr bwMode="gray">
          <a:xfrm>
            <a:off x="8820807" y="975994"/>
            <a:ext cx="3118896" cy="724918"/>
          </a:xfrm>
          <a:prstGeom prst="roundRect">
            <a:avLst>
              <a:gd name="adj" fmla="val 8148"/>
            </a:avLst>
          </a:prstGeom>
          <a:noFill/>
          <a:ln w="9525" algn="ctr">
            <a:solidFill>
              <a:srgbClr val="ACB6C0"/>
            </a:solidFill>
            <a:miter lim="800000"/>
            <a:headEnd/>
            <a:tailEnd/>
          </a:ln>
        </p:spPr>
        <p:txBody>
          <a:bodyPr lIns="90000" tIns="72000" rIns="90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Persona</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US" sz="1200">
                <a:latin typeface="72 Brand" panose="020B0504030603020204" pitchFamily="34" charset="0"/>
              </a:rPr>
              <a:t>D</a:t>
            </a:r>
            <a:r>
              <a:rPr lang="en-DE" sz="1200">
                <a:latin typeface="72 Brand" panose="020B0504030603020204" pitchFamily="34" charset="0"/>
              </a:rPr>
              <a:t>ata Scientist / AI Engineer</a:t>
            </a:r>
            <a:endParaRPr lang="en-DE" sz="1400" b="1" kern="0">
              <a:solidFill>
                <a:srgbClr val="002986"/>
              </a:solidFill>
              <a:latin typeface="72 Brand" panose="020B0504030603020204" pitchFamily="34" charset="0"/>
              <a:ea typeface="Arial Unicode MS" pitchFamily="34" charset="-128"/>
              <a:cs typeface="Arial Unicode MS" pitchFamily="34" charset="-128"/>
              <a:sym typeface="72" panose="020B0503030000000003" pitchFamily="34" charset="0"/>
            </a:endParaRP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1" i="0" u="none" strike="noStrike" kern="0" cap="none" spc="0" normalizeH="0" baseline="0" noProof="0">
              <a:ln>
                <a:noFill/>
              </a:ln>
              <a:solidFill>
                <a:srgbClr val="002986"/>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endParaRPr>
          </a:p>
        </p:txBody>
      </p:sp>
      <p:sp>
        <p:nvSpPr>
          <p:cNvPr id="9" name="Rectangle 101">
            <a:extLst>
              <a:ext uri="{FF2B5EF4-FFF2-40B4-BE49-F238E27FC236}">
                <a16:creationId xmlns:a16="http://schemas.microsoft.com/office/drawing/2014/main" id="{3111FD1D-7BC4-4687-1CC6-64C5EF03E870}"/>
              </a:ext>
            </a:extLst>
          </p:cNvPr>
          <p:cNvSpPr/>
          <p:nvPr/>
        </p:nvSpPr>
        <p:spPr bwMode="gray">
          <a:xfrm>
            <a:off x="8820807" y="1821359"/>
            <a:ext cx="3118896" cy="1443988"/>
          </a:xfrm>
          <a:prstGeom prst="roundRect">
            <a:avLst>
              <a:gd name="adj" fmla="val 5271"/>
            </a:avLst>
          </a:prstGeom>
          <a:noFill/>
          <a:ln w="9525" algn="ctr">
            <a:solidFill>
              <a:srgbClr val="ACB6C0"/>
            </a:solidFill>
            <a:miter lim="800000"/>
            <a:headEnd/>
            <a:tailEnd/>
          </a:ln>
        </p:spPr>
        <p:txBody>
          <a:bodyPr lIns="90000" tIns="72000" rIns="90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Goal</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DE" sz="1200">
                <a:latin typeface="72 Brand" panose="020B0504030603020204" pitchFamily="34" charset="0"/>
              </a:rPr>
              <a:t>Enrich Data Product with ML / AI insights</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DE" sz="1200">
                <a:latin typeface="72 Brand" panose="020B0504030603020204" pitchFamily="34" charset="0"/>
              </a:rPr>
              <a:t>Consume enriched custom Data Product in Datasphere and Analytics Cloud</a:t>
            </a:r>
            <a:endParaRPr lang="en-US" sz="1200">
              <a:latin typeface="72 Brand" panose="020B0504030603020204" pitchFamily="34" charset="0"/>
            </a:endParaRP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1" i="0" u="none" strike="noStrike" kern="0" cap="none" spc="0" normalizeH="0" baseline="0" noProof="0">
              <a:ln>
                <a:noFill/>
              </a:ln>
              <a:solidFill>
                <a:srgbClr val="002986"/>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endParaRPr>
          </a:p>
        </p:txBody>
      </p:sp>
      <p:sp>
        <p:nvSpPr>
          <p:cNvPr id="22" name="Abgerundetes Rechteck 206">
            <a:extLst>
              <a:ext uri="{FF2B5EF4-FFF2-40B4-BE49-F238E27FC236}">
                <a16:creationId xmlns:a16="http://schemas.microsoft.com/office/drawing/2014/main" id="{EA4B0027-1F82-E2EC-C3B8-BB5657E5BD88}"/>
              </a:ext>
            </a:extLst>
          </p:cNvPr>
          <p:cNvSpPr/>
          <p:nvPr/>
        </p:nvSpPr>
        <p:spPr bwMode="gray">
          <a:xfrm>
            <a:off x="188259" y="2502895"/>
            <a:ext cx="8482775" cy="3929926"/>
          </a:xfrm>
          <a:prstGeom prst="roundRect">
            <a:avLst>
              <a:gd name="adj" fmla="val 2462"/>
            </a:avLst>
          </a:prstGeom>
          <a:noFill/>
          <a:ln w="9525" algn="ctr">
            <a:solidFill>
              <a:srgbClr val="ACB6C0"/>
            </a:solidFill>
            <a:miter lim="800000"/>
            <a:headEnd/>
            <a:tailEnd/>
          </a:ln>
        </p:spPr>
        <p:txBody>
          <a:bodyPr lIns="90000" tIns="72000" rIns="90000" bIns="72000" rtlCol="0" anchor="t" anchorCtr="0"/>
          <a:lstStyle/>
          <a:p>
            <a:pPr defTabSz="914400" fontAlgn="base">
              <a:spcBef>
                <a:spcPct val="50000"/>
              </a:spcBef>
              <a:spcAft>
                <a:spcPct val="0"/>
              </a:spcAft>
              <a:buClr>
                <a:srgbClr val="F0AB00"/>
              </a:buClr>
              <a:buSzPct val="80000"/>
            </a:pPr>
            <a:r>
              <a:rPr lang="en-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rPr>
              <a:t>Scenario Flow</a:t>
            </a:r>
            <a:endParaRPr lang="de-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endParaRPr>
          </a:p>
        </p:txBody>
      </p:sp>
      <p:sp>
        <p:nvSpPr>
          <p:cNvPr id="1189" name="Rounded Rectangle 23">
            <a:extLst>
              <a:ext uri="{FF2B5EF4-FFF2-40B4-BE49-F238E27FC236}">
                <a16:creationId xmlns:a16="http://schemas.microsoft.com/office/drawing/2014/main" id="{9934F7C6-5C0B-A43B-2083-CC1A81967639}"/>
              </a:ext>
            </a:extLst>
          </p:cNvPr>
          <p:cNvSpPr/>
          <p:nvPr/>
        </p:nvSpPr>
        <p:spPr bwMode="gray">
          <a:xfrm>
            <a:off x="3869438" y="4399975"/>
            <a:ext cx="4456298" cy="1006889"/>
          </a:xfrm>
          <a:prstGeom prst="roundRect">
            <a:avLst>
              <a:gd name="adj" fmla="val 2327"/>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BDC Cockpit</a:t>
            </a:r>
          </a:p>
        </p:txBody>
      </p:sp>
      <p:sp>
        <p:nvSpPr>
          <p:cNvPr id="1190" name="Rectangle: Rounded Corners 39">
            <a:extLst>
              <a:ext uri="{FF2B5EF4-FFF2-40B4-BE49-F238E27FC236}">
                <a16:creationId xmlns:a16="http://schemas.microsoft.com/office/drawing/2014/main" id="{24AF5112-3255-6B10-4B3C-BE7C0A959044}"/>
              </a:ext>
            </a:extLst>
          </p:cNvPr>
          <p:cNvSpPr/>
          <p:nvPr/>
        </p:nvSpPr>
        <p:spPr bwMode="auto">
          <a:xfrm>
            <a:off x="3988039" y="4709549"/>
            <a:ext cx="4220966" cy="621875"/>
          </a:xfrm>
          <a:prstGeom prst="roundRect">
            <a:avLst>
              <a:gd name="adj" fmla="val 3368"/>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8000" tIns="54000" rIns="90000" bIns="90000" numCol="1" spcCol="0" rtlCol="0" fromWordArt="0" anchor="t" anchorCtr="0" forceAA="0" compatLnSpc="1">
            <a:prstTxWarp prst="textNoShape">
              <a:avLst/>
            </a:prstTxWarp>
            <a:noAutofit/>
          </a:bodyPr>
          <a:lstStyle/>
          <a:p>
            <a:pPr marL="0" marR="0" lvl="0" indent="0" algn="l" defTabSz="913304"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endParaRPr>
          </a:p>
        </p:txBody>
      </p:sp>
      <p:pic>
        <p:nvPicPr>
          <p:cNvPr id="1191" name="Graphic 1190">
            <a:extLst>
              <a:ext uri="{FF2B5EF4-FFF2-40B4-BE49-F238E27FC236}">
                <a16:creationId xmlns:a16="http://schemas.microsoft.com/office/drawing/2014/main" id="{C51285FB-C123-64AB-EE02-163E9604EC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071090" y="4764906"/>
            <a:ext cx="180000" cy="191251"/>
          </a:xfrm>
          <a:prstGeom prst="rect">
            <a:avLst/>
          </a:prstGeom>
          <a:effectLst/>
        </p:spPr>
      </p:pic>
      <p:sp>
        <p:nvSpPr>
          <p:cNvPr id="1192" name="TextBox 1191">
            <a:extLst>
              <a:ext uri="{FF2B5EF4-FFF2-40B4-BE49-F238E27FC236}">
                <a16:creationId xmlns:a16="http://schemas.microsoft.com/office/drawing/2014/main" id="{7A832C07-5EBA-525D-42B5-D1DD81D42532}"/>
              </a:ext>
            </a:extLst>
          </p:cNvPr>
          <p:cNvSpPr txBox="1"/>
          <p:nvPr/>
        </p:nvSpPr>
        <p:spPr>
          <a:xfrm>
            <a:off x="4288466" y="4775148"/>
            <a:ext cx="730969" cy="153888"/>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Data Catalog</a:t>
            </a:r>
          </a:p>
        </p:txBody>
      </p:sp>
      <p:sp>
        <p:nvSpPr>
          <p:cNvPr id="1193" name="Rounded Rectangle 23">
            <a:extLst>
              <a:ext uri="{FF2B5EF4-FFF2-40B4-BE49-F238E27FC236}">
                <a16:creationId xmlns:a16="http://schemas.microsoft.com/office/drawing/2014/main" id="{532BA2A9-3DDC-F7C9-BAC9-BC24E179E75C}"/>
              </a:ext>
            </a:extLst>
          </p:cNvPr>
          <p:cNvSpPr/>
          <p:nvPr/>
        </p:nvSpPr>
        <p:spPr bwMode="gray">
          <a:xfrm>
            <a:off x="3869437" y="2617028"/>
            <a:ext cx="2628853" cy="1623943"/>
          </a:xfrm>
          <a:prstGeom prst="roundRect">
            <a:avLst>
              <a:gd name="adj" fmla="val 5160"/>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marL="0" marR="0" lvl="0" indent="0" algn="l" defTabSz="1088449"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72 Brand Medium"/>
                <a:ea typeface="+mn-ea"/>
                <a:cs typeface="+mn-cs"/>
              </a:rPr>
              <a:t>SAP Databricks</a:t>
            </a:r>
          </a:p>
        </p:txBody>
      </p:sp>
      <p:sp>
        <p:nvSpPr>
          <p:cNvPr id="1194" name="Rectangle: Rounded Corners 39">
            <a:extLst>
              <a:ext uri="{FF2B5EF4-FFF2-40B4-BE49-F238E27FC236}">
                <a16:creationId xmlns:a16="http://schemas.microsoft.com/office/drawing/2014/main" id="{E3AC40FD-10BF-FC53-2517-58E9825C13AB}"/>
              </a:ext>
            </a:extLst>
          </p:cNvPr>
          <p:cNvSpPr/>
          <p:nvPr/>
        </p:nvSpPr>
        <p:spPr bwMode="auto">
          <a:xfrm>
            <a:off x="3988307" y="2965396"/>
            <a:ext cx="2398473" cy="1171900"/>
          </a:xfrm>
          <a:prstGeom prst="roundRect">
            <a:avLst>
              <a:gd name="adj" fmla="val 3723"/>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8000" tIns="54000" rIns="90000" bIns="90000" numCol="1" spcCol="0" rtlCol="0" fromWordArt="0" anchor="t" anchorCtr="0" forceAA="0" compatLnSpc="1">
            <a:prstTxWarp prst="textNoShape">
              <a:avLst/>
            </a:prstTxWarp>
            <a:noAutofit/>
          </a:bodyPr>
          <a:lstStyle/>
          <a:p>
            <a:pPr marL="0" marR="0" lvl="0" indent="0" algn="l" defTabSz="913304"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endParaRPr>
          </a:p>
        </p:txBody>
      </p:sp>
      <p:sp>
        <p:nvSpPr>
          <p:cNvPr id="1195" name="TextBox 1194">
            <a:extLst>
              <a:ext uri="{FF2B5EF4-FFF2-40B4-BE49-F238E27FC236}">
                <a16:creationId xmlns:a16="http://schemas.microsoft.com/office/drawing/2014/main" id="{03DF0125-C187-F06B-D489-258625AD9655}"/>
              </a:ext>
            </a:extLst>
          </p:cNvPr>
          <p:cNvSpPr txBox="1"/>
          <p:nvPr/>
        </p:nvSpPr>
        <p:spPr>
          <a:xfrm>
            <a:off x="4288466" y="3094236"/>
            <a:ext cx="775138" cy="153888"/>
          </a:xfrm>
          <a:prstGeom prst="rect">
            <a:avLst/>
          </a:prstGeom>
          <a:noFill/>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Unity Catalog</a:t>
            </a:r>
          </a:p>
        </p:txBody>
      </p:sp>
      <p:sp>
        <p:nvSpPr>
          <p:cNvPr id="1196" name="Rounded Rectangle 23">
            <a:extLst>
              <a:ext uri="{FF2B5EF4-FFF2-40B4-BE49-F238E27FC236}">
                <a16:creationId xmlns:a16="http://schemas.microsoft.com/office/drawing/2014/main" id="{231FC10C-3C67-9EAE-4788-3BAD04189E3D}"/>
              </a:ext>
            </a:extLst>
          </p:cNvPr>
          <p:cNvSpPr/>
          <p:nvPr/>
        </p:nvSpPr>
        <p:spPr bwMode="gray">
          <a:xfrm>
            <a:off x="6641375" y="2607183"/>
            <a:ext cx="1694403" cy="658164"/>
          </a:xfrm>
          <a:prstGeom prst="roundRect">
            <a:avLst>
              <a:gd name="adj" fmla="val 5088"/>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marL="0" marR="0" lvl="0" indent="0" algn="l" defTabSz="1088449"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72 Brand Medium"/>
                <a:ea typeface="+mn-ea"/>
                <a:cs typeface="+mn-cs"/>
              </a:rPr>
              <a:t>SAP Analytics Cloud</a:t>
            </a:r>
          </a:p>
        </p:txBody>
      </p:sp>
      <p:sp>
        <p:nvSpPr>
          <p:cNvPr id="1198" name="Rounded Rectangle 23">
            <a:extLst>
              <a:ext uri="{FF2B5EF4-FFF2-40B4-BE49-F238E27FC236}">
                <a16:creationId xmlns:a16="http://schemas.microsoft.com/office/drawing/2014/main" id="{5FC987C5-D5F0-46A9-DB03-C62EFE4EE0DD}"/>
              </a:ext>
            </a:extLst>
          </p:cNvPr>
          <p:cNvSpPr/>
          <p:nvPr/>
        </p:nvSpPr>
        <p:spPr bwMode="gray">
          <a:xfrm>
            <a:off x="3869439" y="5511744"/>
            <a:ext cx="4456300" cy="741177"/>
          </a:xfrm>
          <a:prstGeom prst="roundRect">
            <a:avLst>
              <a:gd name="adj" fmla="val 2868"/>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Foundation </a:t>
            </a:r>
            <a:br>
              <a:rPr lang="en-DE" sz="1100">
                <a:solidFill>
                  <a:srgbClr val="000000"/>
                </a:solidFill>
                <a:latin typeface="72 Brand Medium"/>
              </a:rPr>
            </a:br>
            <a:r>
              <a:rPr lang="en-US" sz="1100">
                <a:solidFill>
                  <a:srgbClr val="000000"/>
                </a:solidFill>
                <a:latin typeface="72 Brand Medium"/>
              </a:rPr>
              <a:t>Service</a:t>
            </a:r>
          </a:p>
        </p:txBody>
      </p:sp>
      <p:sp>
        <p:nvSpPr>
          <p:cNvPr id="1204" name="Rectangle: Rounded Corners 39">
            <a:extLst>
              <a:ext uri="{FF2B5EF4-FFF2-40B4-BE49-F238E27FC236}">
                <a16:creationId xmlns:a16="http://schemas.microsoft.com/office/drawing/2014/main" id="{05780BF2-20EF-8F07-E40B-CB25703B4082}"/>
              </a:ext>
            </a:extLst>
          </p:cNvPr>
          <p:cNvSpPr/>
          <p:nvPr/>
        </p:nvSpPr>
        <p:spPr bwMode="auto">
          <a:xfrm>
            <a:off x="5121708" y="5668988"/>
            <a:ext cx="1446732" cy="521755"/>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36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2A86"/>
                </a:solidFill>
                <a:latin typeface="72 Brand"/>
              </a:rPr>
              <a:t>SAP Data product</a:t>
            </a:r>
            <a:endParaRPr lang="en-DE" sz="800">
              <a:solidFill>
                <a:srgbClr val="002A86"/>
              </a:solidFill>
              <a:latin typeface="72 Brand"/>
            </a:endParaRPr>
          </a:p>
          <a:p>
            <a:pPr defTabSz="913578" eaLnBrk="0" fontAlgn="base" hangingPunct="0">
              <a:spcBef>
                <a:spcPct val="0"/>
              </a:spcBef>
              <a:spcAft>
                <a:spcPct val="0"/>
              </a:spcAft>
            </a:pPr>
            <a:endParaRPr lang="en-DE" sz="800">
              <a:solidFill>
                <a:srgbClr val="002A86"/>
              </a:solidFill>
              <a:latin typeface="72 Brand"/>
            </a:endParaRPr>
          </a:p>
          <a:p>
            <a:pPr defTabSz="913578" eaLnBrk="0" fontAlgn="base" hangingPunct="0">
              <a:spcBef>
                <a:spcPct val="0"/>
              </a:spcBef>
              <a:spcAft>
                <a:spcPct val="0"/>
              </a:spcAft>
            </a:pPr>
            <a:endParaRPr lang="en-DE" sz="800">
              <a:solidFill>
                <a:srgbClr val="002A86"/>
              </a:solidFill>
              <a:latin typeface="72 Brand"/>
            </a:endParaRPr>
          </a:p>
        </p:txBody>
      </p:sp>
      <p:pic>
        <p:nvPicPr>
          <p:cNvPr id="1205" name="Graphic 1204">
            <a:extLst>
              <a:ext uri="{FF2B5EF4-FFF2-40B4-BE49-F238E27FC236}">
                <a16:creationId xmlns:a16="http://schemas.microsoft.com/office/drawing/2014/main" id="{F2AD8A5D-B133-AB6A-647C-0AEED18B540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200687" y="5716438"/>
            <a:ext cx="134332" cy="122942"/>
          </a:xfrm>
          <a:prstGeom prst="rect">
            <a:avLst/>
          </a:prstGeom>
        </p:spPr>
      </p:pic>
      <p:sp>
        <p:nvSpPr>
          <p:cNvPr id="1206" name="Rectangle: Rounded Corners 39">
            <a:extLst>
              <a:ext uri="{FF2B5EF4-FFF2-40B4-BE49-F238E27FC236}">
                <a16:creationId xmlns:a16="http://schemas.microsoft.com/office/drawing/2014/main" id="{067E0BD1-E92C-3E28-EB70-49A8C534081F}"/>
              </a:ext>
            </a:extLst>
          </p:cNvPr>
          <p:cNvSpPr/>
          <p:nvPr/>
        </p:nvSpPr>
        <p:spPr bwMode="auto">
          <a:xfrm>
            <a:off x="5242300" y="3279354"/>
            <a:ext cx="868438" cy="252000"/>
          </a:xfrm>
          <a:prstGeom prst="roundRect">
            <a:avLst>
              <a:gd name="adj" fmla="val 10479"/>
            </a:avLst>
          </a:prstGeom>
          <a:solidFill>
            <a:schemeClr val="bg2"/>
          </a:solidFill>
          <a:ln w="9525">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rPr>
              <a:t>Notebook</a:t>
            </a:r>
          </a:p>
        </p:txBody>
      </p:sp>
      <p:pic>
        <p:nvPicPr>
          <p:cNvPr id="1207" name="Graphic 1206">
            <a:extLst>
              <a:ext uri="{FF2B5EF4-FFF2-40B4-BE49-F238E27FC236}">
                <a16:creationId xmlns:a16="http://schemas.microsoft.com/office/drawing/2014/main" id="{E51FE675-D563-A7E7-D8BD-EE34C30AB1B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301824" y="3350846"/>
            <a:ext cx="126000" cy="126000"/>
          </a:xfrm>
          <a:prstGeom prst="rect">
            <a:avLst/>
          </a:prstGeom>
        </p:spPr>
      </p:pic>
      <p:sp>
        <p:nvSpPr>
          <p:cNvPr id="1209" name="Rectangle: Rounded Corners 39">
            <a:extLst>
              <a:ext uri="{FF2B5EF4-FFF2-40B4-BE49-F238E27FC236}">
                <a16:creationId xmlns:a16="http://schemas.microsoft.com/office/drawing/2014/main" id="{339209ED-6F8A-581B-1152-2B27ECC979AA}"/>
              </a:ext>
            </a:extLst>
          </p:cNvPr>
          <p:cNvSpPr/>
          <p:nvPr/>
        </p:nvSpPr>
        <p:spPr bwMode="auto">
          <a:xfrm>
            <a:off x="5121708" y="4991144"/>
            <a:ext cx="1332000"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2A86"/>
                </a:solidFill>
                <a:latin typeface="72 Brand"/>
              </a:rPr>
              <a:t>SAP Data product</a:t>
            </a:r>
          </a:p>
        </p:txBody>
      </p:sp>
      <p:pic>
        <p:nvPicPr>
          <p:cNvPr id="1210" name="Graphic 1209">
            <a:extLst>
              <a:ext uri="{FF2B5EF4-FFF2-40B4-BE49-F238E27FC236}">
                <a16:creationId xmlns:a16="http://schemas.microsoft.com/office/drawing/2014/main" id="{FD230931-1124-A878-207A-4A30F853C88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196460" y="5054144"/>
            <a:ext cx="126000" cy="126000"/>
          </a:xfrm>
          <a:prstGeom prst="rect">
            <a:avLst/>
          </a:prstGeom>
          <a:effectLst/>
        </p:spPr>
      </p:pic>
      <p:sp>
        <p:nvSpPr>
          <p:cNvPr id="1214" name="Abgerundetes Rechteck 18">
            <a:extLst>
              <a:ext uri="{FF2B5EF4-FFF2-40B4-BE49-F238E27FC236}">
                <a16:creationId xmlns:a16="http://schemas.microsoft.com/office/drawing/2014/main" id="{49C17F2F-F230-AE10-EBAE-463F3BB6D4A5}"/>
              </a:ext>
            </a:extLst>
          </p:cNvPr>
          <p:cNvSpPr/>
          <p:nvPr/>
        </p:nvSpPr>
        <p:spPr bwMode="gray">
          <a:xfrm>
            <a:off x="4351262" y="4122556"/>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2</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215" name="Rectangle: Rounded Corners 91">
            <a:extLst>
              <a:ext uri="{FF2B5EF4-FFF2-40B4-BE49-F238E27FC236}">
                <a16:creationId xmlns:a16="http://schemas.microsoft.com/office/drawing/2014/main" id="{49A7FA5C-81F5-1FD3-5287-AA53D54F555F}"/>
              </a:ext>
            </a:extLst>
          </p:cNvPr>
          <p:cNvSpPr/>
          <p:nvPr/>
        </p:nvSpPr>
        <p:spPr bwMode="gray">
          <a:xfrm>
            <a:off x="5495701" y="5352847"/>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Expose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cxnSp>
        <p:nvCxnSpPr>
          <p:cNvPr id="1216" name="Straight Arrow Connector 1215">
            <a:extLst>
              <a:ext uri="{FF2B5EF4-FFF2-40B4-BE49-F238E27FC236}">
                <a16:creationId xmlns:a16="http://schemas.microsoft.com/office/drawing/2014/main" id="{F79C5E85-AF41-8BD4-9CF2-D4782E53DA6B}"/>
              </a:ext>
            </a:extLst>
          </p:cNvPr>
          <p:cNvCxnSpPr>
            <a:cxnSpLocks/>
            <a:stCxn id="1204" idx="0"/>
            <a:endCxn id="1215" idx="2"/>
          </p:cNvCxnSpPr>
          <p:nvPr/>
        </p:nvCxnSpPr>
        <p:spPr>
          <a:xfrm flipH="1" flipV="1">
            <a:off x="5792701" y="5496847"/>
            <a:ext cx="52373" cy="172141"/>
          </a:xfrm>
          <a:prstGeom prst="straightConnector1">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7" name="Abgerundetes Rechteck 18">
            <a:extLst>
              <a:ext uri="{FF2B5EF4-FFF2-40B4-BE49-F238E27FC236}">
                <a16:creationId xmlns:a16="http://schemas.microsoft.com/office/drawing/2014/main" id="{5D882CE5-1A73-F0A3-0F9C-E7EF931CC6B3}"/>
              </a:ext>
            </a:extLst>
          </p:cNvPr>
          <p:cNvSpPr/>
          <p:nvPr/>
        </p:nvSpPr>
        <p:spPr bwMode="gray">
          <a:xfrm>
            <a:off x="4780345" y="5145023"/>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lang="en-DE" sz="1200">
                <a:solidFill>
                  <a:srgbClr val="FFFFFF"/>
                </a:solidFill>
                <a:latin typeface="72 Brand Medium"/>
              </a:rPr>
              <a:t>1</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218" name="Abgerundetes Rechteck 18">
            <a:extLst>
              <a:ext uri="{FF2B5EF4-FFF2-40B4-BE49-F238E27FC236}">
                <a16:creationId xmlns:a16="http://schemas.microsoft.com/office/drawing/2014/main" id="{7B52AA73-A36D-876E-BCBA-446642135373}"/>
              </a:ext>
            </a:extLst>
          </p:cNvPr>
          <p:cNvSpPr/>
          <p:nvPr/>
        </p:nvSpPr>
        <p:spPr bwMode="gray">
          <a:xfrm>
            <a:off x="5971196" y="3089676"/>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3</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219" name="Rectangle: Rounded Corners 39">
            <a:extLst>
              <a:ext uri="{FF2B5EF4-FFF2-40B4-BE49-F238E27FC236}">
                <a16:creationId xmlns:a16="http://schemas.microsoft.com/office/drawing/2014/main" id="{3165C8F0-84AD-ABE2-A8CF-F6DFB1036093}"/>
              </a:ext>
            </a:extLst>
          </p:cNvPr>
          <p:cNvSpPr/>
          <p:nvPr/>
        </p:nvSpPr>
        <p:spPr bwMode="auto">
          <a:xfrm>
            <a:off x="7113239" y="2847844"/>
            <a:ext cx="1082052" cy="283181"/>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Story</a:t>
            </a:r>
          </a:p>
        </p:txBody>
      </p:sp>
      <p:pic>
        <p:nvPicPr>
          <p:cNvPr id="1220" name="Graphic 1219">
            <a:extLst>
              <a:ext uri="{FF2B5EF4-FFF2-40B4-BE49-F238E27FC236}">
                <a16:creationId xmlns:a16="http://schemas.microsoft.com/office/drawing/2014/main" id="{4AA9CC98-82F8-6A7C-C7DA-D0A5F123F33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195866" y="2972057"/>
            <a:ext cx="115258" cy="122942"/>
          </a:xfrm>
          <a:prstGeom prst="rect">
            <a:avLst/>
          </a:prstGeom>
          <a:effectLst/>
        </p:spPr>
      </p:pic>
      <p:pic>
        <p:nvPicPr>
          <p:cNvPr id="1224" name="Graphic 1223">
            <a:extLst>
              <a:ext uri="{FF2B5EF4-FFF2-40B4-BE49-F238E27FC236}">
                <a16:creationId xmlns:a16="http://schemas.microsoft.com/office/drawing/2014/main" id="{AE59CF68-5DD0-8835-74B3-E238F121178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078403" y="3061545"/>
            <a:ext cx="180000" cy="191251"/>
          </a:xfrm>
          <a:prstGeom prst="rect">
            <a:avLst/>
          </a:prstGeom>
          <a:effectLst/>
        </p:spPr>
      </p:pic>
      <p:sp>
        <p:nvSpPr>
          <p:cNvPr id="1225" name="Rectangle: Rounded Corners 39">
            <a:extLst>
              <a:ext uri="{FF2B5EF4-FFF2-40B4-BE49-F238E27FC236}">
                <a16:creationId xmlns:a16="http://schemas.microsoft.com/office/drawing/2014/main" id="{837C41E9-40CD-B498-FE5D-42BF2F38BD1B}"/>
              </a:ext>
            </a:extLst>
          </p:cNvPr>
          <p:cNvSpPr/>
          <p:nvPr/>
        </p:nvSpPr>
        <p:spPr bwMode="auto">
          <a:xfrm>
            <a:off x="5341395" y="3466137"/>
            <a:ext cx="874696"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lang="en-DE" sz="800">
                <a:solidFill>
                  <a:srgbClr val="00144A"/>
                </a:solidFill>
                <a:latin typeface="72 Brand"/>
                <a:cs typeface="72" panose="020B0503030000000003" pitchFamily="34" charset="0"/>
              </a:rPr>
              <a:t>ML Model</a:t>
            </a:r>
            <a:endPar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endParaRPr>
          </a:p>
        </p:txBody>
      </p:sp>
      <p:grpSp>
        <p:nvGrpSpPr>
          <p:cNvPr id="1319" name="Group 1318">
            <a:extLst>
              <a:ext uri="{FF2B5EF4-FFF2-40B4-BE49-F238E27FC236}">
                <a16:creationId xmlns:a16="http://schemas.microsoft.com/office/drawing/2014/main" id="{380D2E31-AE24-A734-C2BF-AA2A99E7645E}"/>
              </a:ext>
            </a:extLst>
          </p:cNvPr>
          <p:cNvGrpSpPr/>
          <p:nvPr/>
        </p:nvGrpSpPr>
        <p:grpSpPr>
          <a:xfrm>
            <a:off x="4094777" y="3618656"/>
            <a:ext cx="1188611" cy="252000"/>
            <a:chOff x="4094777" y="3819979"/>
            <a:chExt cx="1188611" cy="252000"/>
          </a:xfrm>
        </p:grpSpPr>
        <p:sp>
          <p:nvSpPr>
            <p:cNvPr id="1213" name="Rectangle: Rounded Corners 39">
              <a:extLst>
                <a:ext uri="{FF2B5EF4-FFF2-40B4-BE49-F238E27FC236}">
                  <a16:creationId xmlns:a16="http://schemas.microsoft.com/office/drawing/2014/main" id="{12E430B8-F9FE-AEC6-F2D8-B4FD27B17C90}"/>
                </a:ext>
              </a:extLst>
            </p:cNvPr>
            <p:cNvSpPr/>
            <p:nvPr/>
          </p:nvSpPr>
          <p:spPr bwMode="auto">
            <a:xfrm>
              <a:off x="4094777" y="3819979"/>
              <a:ext cx="1188611"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SAP Data product</a:t>
              </a:r>
            </a:p>
          </p:txBody>
        </p:sp>
        <p:pic>
          <p:nvPicPr>
            <p:cNvPr id="1229" name="Graphic 1228">
              <a:extLst>
                <a:ext uri="{FF2B5EF4-FFF2-40B4-BE49-F238E27FC236}">
                  <a16:creationId xmlns:a16="http://schemas.microsoft.com/office/drawing/2014/main" id="{5AF1CBE2-E978-C7D5-A187-98DD71DCA0C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76030" y="3881569"/>
              <a:ext cx="112436" cy="126000"/>
            </a:xfrm>
            <a:prstGeom prst="rect">
              <a:avLst/>
            </a:prstGeom>
          </p:spPr>
        </p:pic>
      </p:grpSp>
      <p:cxnSp>
        <p:nvCxnSpPr>
          <p:cNvPr id="1231" name="Gewinkelte Verbindung 26">
            <a:extLst>
              <a:ext uri="{FF2B5EF4-FFF2-40B4-BE49-F238E27FC236}">
                <a16:creationId xmlns:a16="http://schemas.microsoft.com/office/drawing/2014/main" id="{EDE09425-D274-A61E-8F5B-A79427801052}"/>
              </a:ext>
            </a:extLst>
          </p:cNvPr>
          <p:cNvCxnSpPr>
            <a:cxnSpLocks/>
            <a:endCxn id="1219" idx="2"/>
          </p:cNvCxnSpPr>
          <p:nvPr/>
        </p:nvCxnSpPr>
        <p:spPr>
          <a:xfrm rot="5400000" flipH="1" flipV="1">
            <a:off x="7382777" y="3401487"/>
            <a:ext cx="541950" cy="1026"/>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32" name="Gewinkelte Verbindung 26">
            <a:extLst>
              <a:ext uri="{FF2B5EF4-FFF2-40B4-BE49-F238E27FC236}">
                <a16:creationId xmlns:a16="http://schemas.microsoft.com/office/drawing/2014/main" id="{14D5C6C2-EFA9-7568-993A-19A01A646FF5}"/>
              </a:ext>
            </a:extLst>
          </p:cNvPr>
          <p:cNvCxnSpPr>
            <a:cxnSpLocks/>
            <a:stCxn id="1213" idx="0"/>
            <a:endCxn id="1206" idx="1"/>
          </p:cNvCxnSpPr>
          <p:nvPr/>
        </p:nvCxnSpPr>
        <p:spPr>
          <a:xfrm rot="5400000" flipH="1" flipV="1">
            <a:off x="4859040" y="3235397"/>
            <a:ext cx="213302" cy="553217"/>
          </a:xfrm>
          <a:prstGeom prst="bentConnector2">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33" name="Straight Arrow Connector 1232">
            <a:extLst>
              <a:ext uri="{FF2B5EF4-FFF2-40B4-BE49-F238E27FC236}">
                <a16:creationId xmlns:a16="http://schemas.microsoft.com/office/drawing/2014/main" id="{4C54DFD1-75F9-ABB7-A507-2EF4B7F1133F}"/>
              </a:ext>
            </a:extLst>
          </p:cNvPr>
          <p:cNvCxnSpPr>
            <a:cxnSpLocks/>
            <a:stCxn id="1215" idx="0"/>
            <a:endCxn id="1209" idx="2"/>
          </p:cNvCxnSpPr>
          <p:nvPr/>
        </p:nvCxnSpPr>
        <p:spPr>
          <a:xfrm flipH="1" flipV="1">
            <a:off x="5787708" y="5243144"/>
            <a:ext cx="4993" cy="109703"/>
          </a:xfrm>
          <a:prstGeom prst="straightConnector1">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34" name="Rectangle: Rounded Corners 91">
            <a:extLst>
              <a:ext uri="{FF2B5EF4-FFF2-40B4-BE49-F238E27FC236}">
                <a16:creationId xmlns:a16="http://schemas.microsoft.com/office/drawing/2014/main" id="{1919EE2D-A4F3-9EB4-5F4E-B631552983E3}"/>
              </a:ext>
            </a:extLst>
          </p:cNvPr>
          <p:cNvSpPr/>
          <p:nvPr/>
        </p:nvSpPr>
        <p:spPr bwMode="gray">
          <a:xfrm>
            <a:off x="7354176" y="3235905"/>
            <a:ext cx="6534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consume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cxnSp>
        <p:nvCxnSpPr>
          <p:cNvPr id="1253" name="Gewinkelte Verbindung 26">
            <a:extLst>
              <a:ext uri="{FF2B5EF4-FFF2-40B4-BE49-F238E27FC236}">
                <a16:creationId xmlns:a16="http://schemas.microsoft.com/office/drawing/2014/main" id="{72D99DCE-8613-89B0-3C5E-7B43A2635CE9}"/>
              </a:ext>
            </a:extLst>
          </p:cNvPr>
          <p:cNvCxnSpPr>
            <a:cxnSpLocks/>
            <a:stCxn id="1209" idx="0"/>
            <a:endCxn id="1213" idx="2"/>
          </p:cNvCxnSpPr>
          <p:nvPr/>
        </p:nvCxnSpPr>
        <p:spPr>
          <a:xfrm rot="16200000" flipV="1">
            <a:off x="4678152" y="3881587"/>
            <a:ext cx="1120488" cy="1098625"/>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57" name="Gewinkelte Verbindung 26">
            <a:extLst>
              <a:ext uri="{FF2B5EF4-FFF2-40B4-BE49-F238E27FC236}">
                <a16:creationId xmlns:a16="http://schemas.microsoft.com/office/drawing/2014/main" id="{DCF321C6-5BFB-5633-2B3D-D6187AC2652B}"/>
              </a:ext>
            </a:extLst>
          </p:cNvPr>
          <p:cNvCxnSpPr>
            <a:cxnSpLocks/>
            <a:stCxn id="1230" idx="2"/>
            <a:endCxn id="1298" idx="1"/>
          </p:cNvCxnSpPr>
          <p:nvPr/>
        </p:nvCxnSpPr>
        <p:spPr>
          <a:xfrm rot="16200000" flipH="1">
            <a:off x="5840629" y="3953736"/>
            <a:ext cx="989546" cy="891953"/>
          </a:xfrm>
          <a:prstGeom prst="bentConnector2">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65" name="Rectangle 101">
            <a:extLst>
              <a:ext uri="{FF2B5EF4-FFF2-40B4-BE49-F238E27FC236}">
                <a16:creationId xmlns:a16="http://schemas.microsoft.com/office/drawing/2014/main" id="{3929B45A-A354-CD53-C4B1-524EEC4EAB78}"/>
              </a:ext>
            </a:extLst>
          </p:cNvPr>
          <p:cNvSpPr/>
          <p:nvPr/>
        </p:nvSpPr>
        <p:spPr bwMode="gray">
          <a:xfrm>
            <a:off x="8820807" y="3350846"/>
            <a:ext cx="3118896" cy="3171447"/>
          </a:xfrm>
          <a:prstGeom prst="roundRect">
            <a:avLst>
              <a:gd name="adj" fmla="val 8225"/>
            </a:avLst>
          </a:prstGeom>
          <a:noFill/>
          <a:ln w="9525" algn="ctr">
            <a:solidFill>
              <a:srgbClr val="ACB6C0"/>
            </a:solidFill>
            <a:miter lim="800000"/>
            <a:headEnd/>
            <a:tailEnd/>
          </a:ln>
        </p:spPr>
        <p:txBody>
          <a:bodyPr lIns="72000" tIns="72000" rIns="36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Learnings</a:t>
            </a:r>
          </a:p>
          <a:p>
            <a:pPr marL="171450" indent="-171450">
              <a:buClr>
                <a:srgbClr val="FFC000"/>
              </a:buClr>
              <a:buSzPct val="80000"/>
              <a:buFont typeface="Wingdings" panose="05000000000000000000" pitchFamily="2" charset="2"/>
              <a:buChar char="§"/>
            </a:pPr>
            <a:r>
              <a:rPr lang="en-GB" sz="1200">
                <a:latin typeface="72 Brand" panose="020B0504030603020204" pitchFamily="34" charset="0"/>
              </a:rPr>
              <a:t>Sharing Data Product to SAP Databricks</a:t>
            </a: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r>
              <a:rPr lang="en-GB" sz="1200">
                <a:latin typeface="72 Brand" panose="020B0504030603020204" pitchFamily="34" charset="0"/>
              </a:rPr>
              <a:t>Enrich Data Product with ML/AI Insights</a:t>
            </a:r>
            <a:r>
              <a:rPr lang="en-DE" sz="1200">
                <a:latin typeface="72 Brand" panose="020B0504030603020204" pitchFamily="34" charset="0"/>
              </a:rPr>
              <a:t>:</a:t>
            </a:r>
          </a:p>
          <a:p>
            <a:pPr marL="715838" lvl="1" indent="-171450">
              <a:buClr>
                <a:srgbClr val="FFC000"/>
              </a:buClr>
              <a:buSzPct val="80000"/>
              <a:buFont typeface="Wingdings" panose="05000000000000000000" pitchFamily="2" charset="2"/>
              <a:buChar char="§"/>
            </a:pPr>
            <a:r>
              <a:rPr lang="en-GB" sz="1200">
                <a:latin typeface="72 Brand" panose="020B0504030603020204" pitchFamily="34" charset="0"/>
              </a:rPr>
              <a:t>Data understanding and preparation</a:t>
            </a:r>
            <a:endParaRPr lang="en-DE" sz="1200">
              <a:latin typeface="72 Brand" panose="020B0504030603020204" pitchFamily="34" charset="0"/>
            </a:endParaRPr>
          </a:p>
          <a:p>
            <a:pPr marL="715838" lvl="1" indent="-171450">
              <a:buClr>
                <a:srgbClr val="FFC000"/>
              </a:buClr>
              <a:buSzPct val="80000"/>
              <a:buFont typeface="Wingdings" panose="05000000000000000000" pitchFamily="2" charset="2"/>
              <a:buChar char="§"/>
            </a:pPr>
            <a:r>
              <a:rPr lang="en-GB" sz="1200">
                <a:latin typeface="72 Brand" panose="020B0504030603020204" pitchFamily="34" charset="0"/>
              </a:rPr>
              <a:t>Train time series forecast model</a:t>
            </a:r>
            <a:endParaRPr lang="en-DE" sz="1200">
              <a:latin typeface="72 Brand" panose="020B0504030603020204" pitchFamily="34" charset="0"/>
            </a:endParaRPr>
          </a:p>
          <a:p>
            <a:pPr marL="715838" lvl="1" indent="-171450">
              <a:buClr>
                <a:srgbClr val="FFC000"/>
              </a:buClr>
              <a:buSzPct val="80000"/>
              <a:buFont typeface="Wingdings" panose="05000000000000000000" pitchFamily="2" charset="2"/>
              <a:buChar char="§"/>
            </a:pPr>
            <a:r>
              <a:rPr lang="en-GB" sz="1200">
                <a:latin typeface="72 Brand" panose="020B0504030603020204" pitchFamily="34" charset="0"/>
              </a:rPr>
              <a:t>Apply cashflow forecast</a:t>
            </a: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r>
              <a:rPr lang="en-GB" sz="1200" err="1">
                <a:latin typeface="72 Brand" panose="020B0504030603020204" pitchFamily="34" charset="0"/>
              </a:rPr>
              <a:t>MLFlow</a:t>
            </a:r>
            <a:r>
              <a:rPr lang="en-GB" sz="1200">
                <a:latin typeface="72 Brand" panose="020B0504030603020204" pitchFamily="34" charset="0"/>
              </a:rPr>
              <a:t> for monitoring query performance</a:t>
            </a: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r>
              <a:rPr lang="en-GB" sz="1200">
                <a:latin typeface="72 Brand" panose="020B0504030603020204" pitchFamily="34" charset="0"/>
              </a:rPr>
              <a:t>Re-sharing custom Data Product to BDC Data </a:t>
            </a:r>
            <a:r>
              <a:rPr lang="en-GB" sz="1200" err="1">
                <a:latin typeface="72 Brand" panose="020B0504030603020204" pitchFamily="34" charset="0"/>
              </a:rPr>
              <a:t>Catalog</a:t>
            </a:r>
            <a:r>
              <a:rPr lang="en-GB" sz="1200">
                <a:latin typeface="72 Brand" panose="020B0504030603020204" pitchFamily="34" charset="0"/>
              </a:rPr>
              <a:t> with `sap-</a:t>
            </a:r>
            <a:r>
              <a:rPr lang="en-GB" sz="1200" err="1">
                <a:latin typeface="72 Brand" panose="020B0504030603020204" pitchFamily="34" charset="0"/>
              </a:rPr>
              <a:t>bdc</a:t>
            </a:r>
            <a:r>
              <a:rPr lang="en-GB" sz="1200">
                <a:latin typeface="72 Brand" panose="020B0504030603020204" pitchFamily="34" charset="0"/>
              </a:rPr>
              <a:t>-connect-</a:t>
            </a:r>
            <a:r>
              <a:rPr lang="en-GB" sz="1200" err="1">
                <a:latin typeface="72 Brand" panose="020B0504030603020204" pitchFamily="34" charset="0"/>
              </a:rPr>
              <a:t>sdk</a:t>
            </a:r>
            <a:r>
              <a:rPr lang="en-GB" sz="1200">
                <a:latin typeface="72 Brand" panose="020B0504030603020204" pitchFamily="34" charset="0"/>
              </a:rPr>
              <a:t>`</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endParaRPr lang="en-US" sz="1200">
              <a:latin typeface="72 Brand" panose="020B0504030603020204" pitchFamily="34" charset="0"/>
            </a:endParaRP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1" i="0" u="none" strike="noStrike" kern="0" cap="none" spc="0" normalizeH="0" baseline="0" noProof="0">
              <a:ln>
                <a:noFill/>
              </a:ln>
              <a:solidFill>
                <a:srgbClr val="002986"/>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endParaRPr>
          </a:p>
        </p:txBody>
      </p:sp>
      <p:cxnSp>
        <p:nvCxnSpPr>
          <p:cNvPr id="1268" name="Gewinkelte Verbindung 26">
            <a:extLst>
              <a:ext uri="{FF2B5EF4-FFF2-40B4-BE49-F238E27FC236}">
                <a16:creationId xmlns:a16="http://schemas.microsoft.com/office/drawing/2014/main" id="{DFCA861B-7F44-7C31-B0B1-208B69003C8A}"/>
              </a:ext>
            </a:extLst>
          </p:cNvPr>
          <p:cNvCxnSpPr>
            <a:cxnSpLocks/>
            <a:endCxn id="1185" idx="2"/>
          </p:cNvCxnSpPr>
          <p:nvPr/>
        </p:nvCxnSpPr>
        <p:spPr>
          <a:xfrm rot="5400000" flipH="1" flipV="1">
            <a:off x="7173747" y="4505094"/>
            <a:ext cx="601732" cy="43804"/>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71" name="Abgerundetes Rechteck 18">
            <a:extLst>
              <a:ext uri="{FF2B5EF4-FFF2-40B4-BE49-F238E27FC236}">
                <a16:creationId xmlns:a16="http://schemas.microsoft.com/office/drawing/2014/main" id="{5CB37FC7-404B-B204-C5F4-D325C1DA7DAE}"/>
              </a:ext>
            </a:extLst>
          </p:cNvPr>
          <p:cNvSpPr/>
          <p:nvPr/>
        </p:nvSpPr>
        <p:spPr bwMode="gray">
          <a:xfrm>
            <a:off x="6501658" y="4295095"/>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4</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272" name="Abgerundetes Rechteck 18">
            <a:extLst>
              <a:ext uri="{FF2B5EF4-FFF2-40B4-BE49-F238E27FC236}">
                <a16:creationId xmlns:a16="http://schemas.microsoft.com/office/drawing/2014/main" id="{5563192A-86C3-353D-B276-2C0DDFF690AB}"/>
              </a:ext>
            </a:extLst>
          </p:cNvPr>
          <p:cNvSpPr/>
          <p:nvPr/>
        </p:nvSpPr>
        <p:spPr bwMode="gray">
          <a:xfrm>
            <a:off x="7871050" y="4370627"/>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5</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273" name="Rectangle: Rounded Corners 91">
            <a:extLst>
              <a:ext uri="{FF2B5EF4-FFF2-40B4-BE49-F238E27FC236}">
                <a16:creationId xmlns:a16="http://schemas.microsoft.com/office/drawing/2014/main" id="{F54E4FE6-0405-2D53-3CB6-BC6DBE1E9535}"/>
              </a:ext>
            </a:extLst>
          </p:cNvPr>
          <p:cNvSpPr/>
          <p:nvPr/>
        </p:nvSpPr>
        <p:spPr bwMode="gray">
          <a:xfrm>
            <a:off x="5099217" y="4341664"/>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Share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1274" name="Rectangle: Rounded Corners 91">
            <a:extLst>
              <a:ext uri="{FF2B5EF4-FFF2-40B4-BE49-F238E27FC236}">
                <a16:creationId xmlns:a16="http://schemas.microsoft.com/office/drawing/2014/main" id="{8BB8E9D1-8A06-FF66-73F8-6CE16A9C0777}"/>
              </a:ext>
            </a:extLst>
          </p:cNvPr>
          <p:cNvSpPr/>
          <p:nvPr/>
        </p:nvSpPr>
        <p:spPr bwMode="gray">
          <a:xfrm>
            <a:off x="5790862" y="4152193"/>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Share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1275" name="Rectangle: Rounded Corners 91">
            <a:extLst>
              <a:ext uri="{FF2B5EF4-FFF2-40B4-BE49-F238E27FC236}">
                <a16:creationId xmlns:a16="http://schemas.microsoft.com/office/drawing/2014/main" id="{71EF37C1-9FD7-806B-5589-67EF9CCC9918}"/>
              </a:ext>
            </a:extLst>
          </p:cNvPr>
          <p:cNvSpPr/>
          <p:nvPr/>
        </p:nvSpPr>
        <p:spPr bwMode="gray">
          <a:xfrm>
            <a:off x="7155711" y="4450418"/>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Install</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1276" name="TextBox 1275">
            <a:extLst>
              <a:ext uri="{FF2B5EF4-FFF2-40B4-BE49-F238E27FC236}">
                <a16:creationId xmlns:a16="http://schemas.microsoft.com/office/drawing/2014/main" id="{7AF5394F-BDD0-08B7-133D-D41F56FDAE45}"/>
              </a:ext>
            </a:extLst>
          </p:cNvPr>
          <p:cNvSpPr txBox="1"/>
          <p:nvPr/>
        </p:nvSpPr>
        <p:spPr>
          <a:xfrm>
            <a:off x="427523" y="2985869"/>
            <a:ext cx="3225529" cy="2585323"/>
          </a:xfrm>
          <a:prstGeom prst="rect">
            <a:avLst/>
          </a:prstGeom>
          <a:noFill/>
        </p:spPr>
        <p:txBody>
          <a:bodyPr wrap="square" lIns="0" tIns="0" rIns="0" bIns="0" rtlCol="0">
            <a:spAutoFit/>
          </a:bodyPr>
          <a:lstStyle/>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Activate SAP Data Product </a:t>
            </a:r>
            <a:r>
              <a:rPr lang="en-DE" sz="1200" i="1" kern="0">
                <a:latin typeface="72 Brand" panose="020B0504030603020204" pitchFamily="34" charset="0"/>
                <a:ea typeface="72 Brand" pitchFamily="34" charset="-128"/>
                <a:cs typeface="72 Brand" pitchFamily="34" charset="-128"/>
              </a:rPr>
              <a:t>Cashflow </a:t>
            </a:r>
            <a:r>
              <a:rPr lang="en-DE" sz="1200" kern="0">
                <a:latin typeface="72 Brand" panose="020B0504030603020204" pitchFamily="34" charset="0"/>
                <a:ea typeface="72 Brand" pitchFamily="34" charset="-128"/>
                <a:cs typeface="72 Brand" pitchFamily="34" charset="-128"/>
              </a:rPr>
              <a:t>into SAP Foundation Service and make  it available in SAP BDC Cockpit  </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Share Data Product </a:t>
            </a:r>
            <a:r>
              <a:rPr lang="en-DE" sz="1200" i="1" kern="0">
                <a:latin typeface="72 Brand" panose="020B0504030603020204" pitchFamily="34" charset="0"/>
                <a:ea typeface="72 Brand" pitchFamily="34" charset="-128"/>
                <a:cs typeface="72 Brand" pitchFamily="34" charset="-128"/>
              </a:rPr>
              <a:t>Cashflow </a:t>
            </a:r>
            <a:r>
              <a:rPr lang="en-DE" sz="1200" kern="0">
                <a:latin typeface="72 Brand" panose="020B0504030603020204" pitchFamily="34" charset="0"/>
                <a:ea typeface="72 Brand" pitchFamily="34" charset="-128"/>
                <a:cs typeface="72 Brand" pitchFamily="34" charset="-128"/>
              </a:rPr>
              <a:t>to SAP Databricks</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Apply ML/AI to forecast the cashflow for upcoming 6 months and persist ML model +  result set in SAP Databricks</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Share result set as enriched custom data product to BDC Cockpit</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Install data product to SAP Datasphere and consume in SAP Analytics Cloud</a:t>
            </a:r>
            <a:endParaRPr lang="LID4096" sz="1200" kern="0" err="1">
              <a:latin typeface="72 Brand" panose="020B0504030603020204" pitchFamily="34" charset="0"/>
              <a:ea typeface="72 Brand" pitchFamily="34" charset="-128"/>
              <a:cs typeface="72 Brand" pitchFamily="34" charset="-128"/>
            </a:endParaRPr>
          </a:p>
        </p:txBody>
      </p:sp>
      <p:grpSp>
        <p:nvGrpSpPr>
          <p:cNvPr id="1295" name="Group 1294">
            <a:extLst>
              <a:ext uri="{FF2B5EF4-FFF2-40B4-BE49-F238E27FC236}">
                <a16:creationId xmlns:a16="http://schemas.microsoft.com/office/drawing/2014/main" id="{56FBD45E-9B18-DBF6-AC94-047C530260D1}"/>
              </a:ext>
            </a:extLst>
          </p:cNvPr>
          <p:cNvGrpSpPr/>
          <p:nvPr/>
        </p:nvGrpSpPr>
        <p:grpSpPr>
          <a:xfrm>
            <a:off x="6781379" y="4768486"/>
            <a:ext cx="1188611" cy="252000"/>
            <a:chOff x="6727749" y="1746824"/>
            <a:chExt cx="1332000" cy="252000"/>
          </a:xfrm>
        </p:grpSpPr>
        <p:pic>
          <p:nvPicPr>
            <p:cNvPr id="1297" name="Graphic 1296">
              <a:extLst>
                <a:ext uri="{FF2B5EF4-FFF2-40B4-BE49-F238E27FC236}">
                  <a16:creationId xmlns:a16="http://schemas.microsoft.com/office/drawing/2014/main" id="{3FF424E1-7E0F-8FC9-3830-F41B26D81C7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02501" y="1809824"/>
              <a:ext cx="126000" cy="126000"/>
            </a:xfrm>
            <a:prstGeom prst="rect">
              <a:avLst/>
            </a:prstGeom>
          </p:spPr>
        </p:pic>
        <p:sp>
          <p:nvSpPr>
            <p:cNvPr id="1298" name="Rectangle: Rounded Corners 39">
              <a:extLst>
                <a:ext uri="{FF2B5EF4-FFF2-40B4-BE49-F238E27FC236}">
                  <a16:creationId xmlns:a16="http://schemas.microsoft.com/office/drawing/2014/main" id="{BE9102E2-84B0-D6D0-F5C5-639A250879AF}"/>
                </a:ext>
              </a:extLst>
            </p:cNvPr>
            <p:cNvSpPr/>
            <p:nvPr/>
          </p:nvSpPr>
          <p:spPr bwMode="auto">
            <a:xfrm>
              <a:off x="6727749" y="1746824"/>
              <a:ext cx="1332000"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Data product</a:t>
              </a:r>
            </a:p>
          </p:txBody>
        </p:sp>
      </p:grpSp>
      <p:grpSp>
        <p:nvGrpSpPr>
          <p:cNvPr id="1304" name="Group 1303">
            <a:extLst>
              <a:ext uri="{FF2B5EF4-FFF2-40B4-BE49-F238E27FC236}">
                <a16:creationId xmlns:a16="http://schemas.microsoft.com/office/drawing/2014/main" id="{182542CE-A229-D82D-69E9-F8A09E997357}"/>
              </a:ext>
            </a:extLst>
          </p:cNvPr>
          <p:cNvGrpSpPr/>
          <p:nvPr/>
        </p:nvGrpSpPr>
        <p:grpSpPr>
          <a:xfrm>
            <a:off x="5452078" y="3652940"/>
            <a:ext cx="874696" cy="252000"/>
            <a:chOff x="5604642" y="3862609"/>
            <a:chExt cx="874696" cy="252000"/>
          </a:xfrm>
        </p:grpSpPr>
        <p:sp>
          <p:nvSpPr>
            <p:cNvPr id="1230" name="Rectangle: Rounded Corners 39">
              <a:extLst>
                <a:ext uri="{FF2B5EF4-FFF2-40B4-BE49-F238E27FC236}">
                  <a16:creationId xmlns:a16="http://schemas.microsoft.com/office/drawing/2014/main" id="{FA7E22E3-7A36-88EE-D01C-F3EB060927C5}"/>
                </a:ext>
              </a:extLst>
            </p:cNvPr>
            <p:cNvSpPr/>
            <p:nvPr/>
          </p:nvSpPr>
          <p:spPr bwMode="auto">
            <a:xfrm>
              <a:off x="5604642" y="3862609"/>
              <a:ext cx="874696"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lang="en-DE" sz="800">
                  <a:solidFill>
                    <a:srgbClr val="00144A"/>
                  </a:solidFill>
                  <a:latin typeface="72 Brand"/>
                  <a:cs typeface="72" panose="020B0503030000000003" pitchFamily="34" charset="0"/>
                </a:rPr>
                <a:t>Result Set</a:t>
              </a:r>
              <a:endPar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endParaRPr>
            </a:p>
          </p:txBody>
        </p:sp>
        <p:pic>
          <p:nvPicPr>
            <p:cNvPr id="1303" name="Graphic 1302">
              <a:extLst>
                <a:ext uri="{FF2B5EF4-FFF2-40B4-BE49-F238E27FC236}">
                  <a16:creationId xmlns:a16="http://schemas.microsoft.com/office/drawing/2014/main" id="{1720A877-4350-9872-E5A7-82B21AA4E2D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674812" y="3922399"/>
              <a:ext cx="126000" cy="126000"/>
            </a:xfrm>
            <a:prstGeom prst="rect">
              <a:avLst/>
            </a:prstGeom>
            <a:effectLst/>
          </p:spPr>
        </p:pic>
      </p:grpSp>
      <p:pic>
        <p:nvPicPr>
          <p:cNvPr id="1305" name="Graphic 1304">
            <a:extLst>
              <a:ext uri="{FF2B5EF4-FFF2-40B4-BE49-F238E27FC236}">
                <a16:creationId xmlns:a16="http://schemas.microsoft.com/office/drawing/2014/main" id="{59DE4FC6-0136-4BB6-D927-C3F4308A818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57434" y="4820926"/>
            <a:ext cx="126000" cy="126000"/>
          </a:xfrm>
          <a:prstGeom prst="rect">
            <a:avLst/>
          </a:prstGeom>
        </p:spPr>
      </p:pic>
      <p:grpSp>
        <p:nvGrpSpPr>
          <p:cNvPr id="1320" name="Group 1319">
            <a:extLst>
              <a:ext uri="{FF2B5EF4-FFF2-40B4-BE49-F238E27FC236}">
                <a16:creationId xmlns:a16="http://schemas.microsoft.com/office/drawing/2014/main" id="{823E6BA9-B19A-3541-14B4-DF1B1DB85B4A}"/>
              </a:ext>
            </a:extLst>
          </p:cNvPr>
          <p:cNvGrpSpPr/>
          <p:nvPr/>
        </p:nvGrpSpPr>
        <p:grpSpPr>
          <a:xfrm>
            <a:off x="6845987" y="3917818"/>
            <a:ext cx="1080000" cy="252000"/>
            <a:chOff x="7162674" y="3881337"/>
            <a:chExt cx="1080000" cy="252000"/>
          </a:xfrm>
          <a:effectLst>
            <a:outerShdw blurRad="50800" dist="38100" dir="8100000" algn="tr" rotWithShape="0">
              <a:prstClr val="black">
                <a:alpha val="40000"/>
              </a:prstClr>
            </a:outerShdw>
          </a:effectLst>
        </p:grpSpPr>
        <p:sp>
          <p:nvSpPr>
            <p:cNvPr id="1321" name="Rectangle: Rounded Corners 39">
              <a:extLst>
                <a:ext uri="{FF2B5EF4-FFF2-40B4-BE49-F238E27FC236}">
                  <a16:creationId xmlns:a16="http://schemas.microsoft.com/office/drawing/2014/main" id="{17BA8057-AF5D-545B-9958-D200CD359FEE}"/>
                </a:ext>
              </a:extLst>
            </p:cNvPr>
            <p:cNvSpPr/>
            <p:nvPr/>
          </p:nvSpPr>
          <p:spPr bwMode="auto">
            <a:xfrm>
              <a:off x="7162674" y="3881337"/>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DE" sz="800">
                  <a:solidFill>
                    <a:srgbClr val="00144A"/>
                  </a:solidFill>
                  <a:latin typeface="72 Brand"/>
                </a:rPr>
                <a:t>Remote Table</a:t>
              </a:r>
              <a:endParaRPr lang="en-US" sz="800">
                <a:solidFill>
                  <a:srgbClr val="00144A"/>
                </a:solidFill>
                <a:latin typeface="72 Brand"/>
              </a:endParaRPr>
            </a:p>
          </p:txBody>
        </p:sp>
        <p:pic>
          <p:nvPicPr>
            <p:cNvPr id="1322" name="Graphic 1321">
              <a:extLst>
                <a:ext uri="{FF2B5EF4-FFF2-40B4-BE49-F238E27FC236}">
                  <a16:creationId xmlns:a16="http://schemas.microsoft.com/office/drawing/2014/main" id="{083C654D-5AEF-53C3-8F97-82194C4347E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237426" y="3944337"/>
              <a:ext cx="126000" cy="126000"/>
            </a:xfrm>
            <a:prstGeom prst="rect">
              <a:avLst/>
            </a:prstGeom>
          </p:spPr>
        </p:pic>
      </p:grpSp>
      <p:grpSp>
        <p:nvGrpSpPr>
          <p:cNvPr id="1186" name="Group 1185">
            <a:extLst>
              <a:ext uri="{FF2B5EF4-FFF2-40B4-BE49-F238E27FC236}">
                <a16:creationId xmlns:a16="http://schemas.microsoft.com/office/drawing/2014/main" id="{B883128F-DC51-8B8C-5A05-DC721C22378F}"/>
              </a:ext>
            </a:extLst>
          </p:cNvPr>
          <p:cNvGrpSpPr/>
          <p:nvPr/>
        </p:nvGrpSpPr>
        <p:grpSpPr>
          <a:xfrm>
            <a:off x="6975487" y="3753971"/>
            <a:ext cx="1080000" cy="252000"/>
            <a:chOff x="7162674" y="3881337"/>
            <a:chExt cx="1080000" cy="252000"/>
          </a:xfrm>
          <a:effectLst>
            <a:outerShdw blurRad="50800" dist="38100" dir="8100000" algn="tr" rotWithShape="0">
              <a:prstClr val="black">
                <a:alpha val="40000"/>
              </a:prstClr>
            </a:outerShdw>
          </a:effectLst>
        </p:grpSpPr>
        <p:sp>
          <p:nvSpPr>
            <p:cNvPr id="1187" name="Rectangle: Rounded Corners 39">
              <a:extLst>
                <a:ext uri="{FF2B5EF4-FFF2-40B4-BE49-F238E27FC236}">
                  <a16:creationId xmlns:a16="http://schemas.microsoft.com/office/drawing/2014/main" id="{EF49C60A-FEEA-D91B-1764-CA6EB12B9113}"/>
                </a:ext>
              </a:extLst>
            </p:cNvPr>
            <p:cNvSpPr/>
            <p:nvPr/>
          </p:nvSpPr>
          <p:spPr bwMode="auto">
            <a:xfrm>
              <a:off x="7162674" y="3881337"/>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Views</a:t>
              </a:r>
            </a:p>
          </p:txBody>
        </p:sp>
        <p:pic>
          <p:nvPicPr>
            <p:cNvPr id="1188" name="Graphic 1187">
              <a:extLst>
                <a:ext uri="{FF2B5EF4-FFF2-40B4-BE49-F238E27FC236}">
                  <a16:creationId xmlns:a16="http://schemas.microsoft.com/office/drawing/2014/main" id="{27C1A69A-AC8F-263B-59C8-B0B890C90C9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237426" y="3944337"/>
              <a:ext cx="126000" cy="126000"/>
            </a:xfrm>
            <a:prstGeom prst="rect">
              <a:avLst/>
            </a:prstGeom>
          </p:spPr>
        </p:pic>
      </p:grpSp>
      <p:grpSp>
        <p:nvGrpSpPr>
          <p:cNvPr id="1221" name="Group 1220">
            <a:extLst>
              <a:ext uri="{FF2B5EF4-FFF2-40B4-BE49-F238E27FC236}">
                <a16:creationId xmlns:a16="http://schemas.microsoft.com/office/drawing/2014/main" id="{00DD4A79-CA21-7230-1DB3-04D90DAA5908}"/>
              </a:ext>
            </a:extLst>
          </p:cNvPr>
          <p:cNvGrpSpPr/>
          <p:nvPr/>
        </p:nvGrpSpPr>
        <p:grpSpPr>
          <a:xfrm>
            <a:off x="7113239" y="3603121"/>
            <a:ext cx="1080000" cy="252000"/>
            <a:chOff x="7300426" y="4027269"/>
            <a:chExt cx="1080000" cy="252000"/>
          </a:xfrm>
          <a:effectLst>
            <a:outerShdw blurRad="50800" dist="38100" dir="8100000" algn="tr" rotWithShape="0">
              <a:prstClr val="black">
                <a:alpha val="40000"/>
              </a:prstClr>
            </a:outerShdw>
          </a:effectLst>
        </p:grpSpPr>
        <p:sp>
          <p:nvSpPr>
            <p:cNvPr id="1222" name="Rectangle: Rounded Corners 39">
              <a:extLst>
                <a:ext uri="{FF2B5EF4-FFF2-40B4-BE49-F238E27FC236}">
                  <a16:creationId xmlns:a16="http://schemas.microsoft.com/office/drawing/2014/main" id="{BE1DEC2C-60A3-0AD8-0B91-AE96A7A82F98}"/>
                </a:ext>
              </a:extLst>
            </p:cNvPr>
            <p:cNvSpPr/>
            <p:nvPr/>
          </p:nvSpPr>
          <p:spPr bwMode="auto">
            <a:xfrm>
              <a:off x="7300426" y="4027269"/>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Analytic models</a:t>
              </a:r>
            </a:p>
          </p:txBody>
        </p:sp>
        <p:pic>
          <p:nvPicPr>
            <p:cNvPr id="1223" name="Graphic 1222">
              <a:extLst>
                <a:ext uri="{FF2B5EF4-FFF2-40B4-BE49-F238E27FC236}">
                  <a16:creationId xmlns:a16="http://schemas.microsoft.com/office/drawing/2014/main" id="{E10D4AE6-280E-FCA5-F67F-B3ED20576D95}"/>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7383053" y="4090269"/>
              <a:ext cx="110250" cy="126000"/>
            </a:xfrm>
            <a:prstGeom prst="rect">
              <a:avLst/>
            </a:prstGeom>
            <a:effectLst>
              <a:outerShdw blurRad="50800" dist="38100" dir="5400000" algn="t" rotWithShape="0">
                <a:prstClr val="black">
                  <a:alpha val="40000"/>
                </a:prstClr>
              </a:outerShdw>
            </a:effectLst>
          </p:spPr>
        </p:pic>
      </p:grpSp>
      <p:grpSp>
        <p:nvGrpSpPr>
          <p:cNvPr id="1326" name="Group 1325">
            <a:extLst>
              <a:ext uri="{FF2B5EF4-FFF2-40B4-BE49-F238E27FC236}">
                <a16:creationId xmlns:a16="http://schemas.microsoft.com/office/drawing/2014/main" id="{01A41641-C643-6221-8954-FA2E12E9EEF0}"/>
              </a:ext>
            </a:extLst>
          </p:cNvPr>
          <p:cNvGrpSpPr/>
          <p:nvPr/>
        </p:nvGrpSpPr>
        <p:grpSpPr>
          <a:xfrm>
            <a:off x="5503470" y="5897638"/>
            <a:ext cx="881392" cy="252000"/>
            <a:chOff x="5434890" y="6098961"/>
            <a:chExt cx="881392" cy="252000"/>
          </a:xfrm>
        </p:grpSpPr>
        <p:sp>
          <p:nvSpPr>
            <p:cNvPr id="1324" name="Rectangle: Rounded Corners 39">
              <a:extLst>
                <a:ext uri="{FF2B5EF4-FFF2-40B4-BE49-F238E27FC236}">
                  <a16:creationId xmlns:a16="http://schemas.microsoft.com/office/drawing/2014/main" id="{8CA7FDD8-8286-60BA-1E1E-B88DD4E01B26}"/>
                </a:ext>
              </a:extLst>
            </p:cNvPr>
            <p:cNvSpPr/>
            <p:nvPr/>
          </p:nvSpPr>
          <p:spPr bwMode="auto">
            <a:xfrm>
              <a:off x="5434890" y="6098961"/>
              <a:ext cx="881392"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DE" sz="800">
                  <a:solidFill>
                    <a:srgbClr val="00144A"/>
                  </a:solidFill>
                  <a:latin typeface="72 Brand"/>
                </a:rPr>
                <a:t>Delta Table</a:t>
              </a:r>
              <a:endParaRPr lang="en-US" sz="800">
                <a:solidFill>
                  <a:srgbClr val="00144A"/>
                </a:solidFill>
                <a:latin typeface="72 Brand"/>
              </a:endParaRPr>
            </a:p>
          </p:txBody>
        </p:sp>
        <p:pic>
          <p:nvPicPr>
            <p:cNvPr id="1325" name="Graphic 1324">
              <a:extLst>
                <a:ext uri="{FF2B5EF4-FFF2-40B4-BE49-F238E27FC236}">
                  <a16:creationId xmlns:a16="http://schemas.microsoft.com/office/drawing/2014/main" id="{0E999D28-3601-1DA7-0EF4-77BD3FA3F97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509642" y="6161961"/>
              <a:ext cx="126000" cy="126000"/>
            </a:xfrm>
            <a:prstGeom prst="rect">
              <a:avLst/>
            </a:prstGeom>
          </p:spPr>
        </p:pic>
      </p:grpSp>
      <p:sp>
        <p:nvSpPr>
          <p:cNvPr id="4" name="Title 1">
            <a:extLst>
              <a:ext uri="{FF2B5EF4-FFF2-40B4-BE49-F238E27FC236}">
                <a16:creationId xmlns:a16="http://schemas.microsoft.com/office/drawing/2014/main" id="{62A6DB39-E233-38A9-A1CD-595199FE63E0}"/>
              </a:ext>
            </a:extLst>
          </p:cNvPr>
          <p:cNvSpPr txBox="1">
            <a:spLocks/>
          </p:cNvSpPr>
          <p:nvPr/>
        </p:nvSpPr>
        <p:spPr bwMode="black">
          <a:xfrm>
            <a:off x="504001" y="280406"/>
            <a:ext cx="11186476" cy="369332"/>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r>
              <a:rPr lang="en-DE">
                <a:solidFill>
                  <a:srgbClr val="2CE0BF"/>
                </a:solidFill>
              </a:rPr>
              <a:t>Use Case </a:t>
            </a:r>
            <a:r>
              <a:rPr lang="en-US">
                <a:solidFill>
                  <a:srgbClr val="2CE0BF"/>
                </a:solidFill>
              </a:rPr>
              <a:t>01</a:t>
            </a:r>
            <a:r>
              <a:rPr lang="en-DE">
                <a:solidFill>
                  <a:srgbClr val="2CE0BF"/>
                </a:solidFill>
              </a:rPr>
              <a:t>: </a:t>
            </a:r>
            <a:r>
              <a:rPr lang="en-DE"/>
              <a:t>Cashflow Forecast</a:t>
            </a:r>
            <a:r>
              <a:rPr lang="en-DE">
                <a:solidFill>
                  <a:srgbClr val="2CE0BF"/>
                </a:solidFill>
              </a:rPr>
              <a:t> </a:t>
            </a:r>
            <a:endParaRPr lang="en-US"/>
          </a:p>
        </p:txBody>
      </p:sp>
    </p:spTree>
    <p:extLst>
      <p:ext uri="{BB962C8B-B14F-4D97-AF65-F5344CB8AC3E}">
        <p14:creationId xmlns:p14="http://schemas.microsoft.com/office/powerpoint/2010/main" val="98800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BC2BB-29D2-6FC6-FC83-1C08ADAB673D}"/>
            </a:ext>
          </a:extLst>
        </p:cNvPr>
        <p:cNvGrpSpPr/>
        <p:nvPr/>
      </p:nvGrpSpPr>
      <p:grpSpPr>
        <a:xfrm>
          <a:off x="0" y="0"/>
          <a:ext cx="0" cy="0"/>
          <a:chOff x="0" y="0"/>
          <a:chExt cx="0" cy="0"/>
        </a:xfrm>
      </p:grpSpPr>
      <p:sp>
        <p:nvSpPr>
          <p:cNvPr id="3" name="Abgerundetes Rechteck 206">
            <a:extLst>
              <a:ext uri="{FF2B5EF4-FFF2-40B4-BE49-F238E27FC236}">
                <a16:creationId xmlns:a16="http://schemas.microsoft.com/office/drawing/2014/main" id="{0F0E7D59-D24C-261A-4DD6-DAB0198E7C2E}"/>
              </a:ext>
            </a:extLst>
          </p:cNvPr>
          <p:cNvSpPr/>
          <p:nvPr/>
        </p:nvSpPr>
        <p:spPr bwMode="gray">
          <a:xfrm>
            <a:off x="188259" y="975994"/>
            <a:ext cx="8482775" cy="1411562"/>
          </a:xfrm>
          <a:prstGeom prst="roundRect">
            <a:avLst>
              <a:gd name="adj" fmla="val 5626"/>
            </a:avLst>
          </a:prstGeom>
          <a:noFill/>
          <a:ln w="9525" algn="ctr">
            <a:solidFill>
              <a:srgbClr val="ACB6C0"/>
            </a:solidFill>
            <a:miter lim="800000"/>
            <a:headEnd/>
            <a:tailEnd/>
          </a:ln>
        </p:spPr>
        <p:txBody>
          <a:bodyPr lIns="90000" tIns="72000" rIns="90000" bIns="72000" rtlCol="0" anchor="t" anchorCtr="0"/>
          <a:lstStyle/>
          <a:p>
            <a:pPr defTabSz="914400" fontAlgn="base">
              <a:spcBef>
                <a:spcPct val="50000"/>
              </a:spcBef>
              <a:spcAft>
                <a:spcPct val="0"/>
              </a:spcAft>
              <a:buClr>
                <a:srgbClr val="F0AB00"/>
              </a:buClr>
              <a:buSzPct val="80000"/>
            </a:pPr>
            <a:r>
              <a:rPr lang="en-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rPr>
              <a:t>Scenario: Prediction of Payment Delays and their Key Drivers </a:t>
            </a:r>
          </a:p>
          <a:p>
            <a:pPr defTabSz="914400" fontAlgn="base">
              <a:spcBef>
                <a:spcPct val="50000"/>
              </a:spcBef>
              <a:spcAft>
                <a:spcPct val="0"/>
              </a:spcAft>
              <a:buClr>
                <a:srgbClr val="F0AB00"/>
              </a:buClr>
              <a:buSzPct val="80000"/>
            </a:pPr>
            <a:r>
              <a:rPr lang="en-DE" sz="1200">
                <a:latin typeface="72 Brand" panose="020B0504030603020204" pitchFamily="34" charset="0"/>
              </a:rPr>
              <a:t>The data scientist needs to predict payment delays and run a root cause analysis. He has to provide the key drivers for the delays and an explanation in a human readable manner. For t</a:t>
            </a:r>
            <a:r>
              <a:rPr lang="en-GB" sz="1200">
                <a:latin typeface="72 Brand" panose="020B0504030603020204" pitchFamily="34" charset="0"/>
              </a:rPr>
              <a:t>ha</a:t>
            </a:r>
            <a:r>
              <a:rPr lang="en-DE" sz="1200">
                <a:latin typeface="72 Brand" panose="020B0504030603020204" pitchFamily="34" charset="0"/>
              </a:rPr>
              <a:t>t he combines SAP Databricks and AI Foundation LLM capabilities to derive the insights. These insights will help the Financial Controller to better understand the payment delays problem and to derive the corresponding actions to mitigate.</a:t>
            </a:r>
            <a:endParaRPr lang="de-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endParaRPr>
          </a:p>
        </p:txBody>
      </p:sp>
      <p:sp>
        <p:nvSpPr>
          <p:cNvPr id="4" name="Rectangle 101">
            <a:extLst>
              <a:ext uri="{FF2B5EF4-FFF2-40B4-BE49-F238E27FC236}">
                <a16:creationId xmlns:a16="http://schemas.microsoft.com/office/drawing/2014/main" id="{721F4352-7842-0A84-6650-C77050F1AE60}"/>
              </a:ext>
            </a:extLst>
          </p:cNvPr>
          <p:cNvSpPr/>
          <p:nvPr/>
        </p:nvSpPr>
        <p:spPr bwMode="gray">
          <a:xfrm>
            <a:off x="8820807" y="975994"/>
            <a:ext cx="3118896" cy="898526"/>
          </a:xfrm>
          <a:prstGeom prst="roundRect">
            <a:avLst>
              <a:gd name="adj" fmla="val 9219"/>
            </a:avLst>
          </a:prstGeom>
          <a:noFill/>
          <a:ln w="9525" algn="ctr">
            <a:solidFill>
              <a:srgbClr val="ACB6C0"/>
            </a:solidFill>
            <a:miter lim="800000"/>
            <a:headEnd/>
            <a:tailEnd/>
          </a:ln>
        </p:spPr>
        <p:txBody>
          <a:bodyPr lIns="90000" tIns="72000" rIns="90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Persona</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US" sz="1200">
                <a:latin typeface="72 Brand" panose="020B0504030603020204" pitchFamily="34" charset="0"/>
              </a:rPr>
              <a:t>D</a:t>
            </a:r>
            <a:r>
              <a:rPr lang="en-DE" sz="1200" err="1">
                <a:latin typeface="72 Brand" panose="020B0504030603020204" pitchFamily="34" charset="0"/>
              </a:rPr>
              <a:t>ata</a:t>
            </a:r>
            <a:r>
              <a:rPr lang="en-DE" sz="1200">
                <a:latin typeface="72 Brand" panose="020B0504030603020204" pitchFamily="34" charset="0"/>
              </a:rPr>
              <a:t> Scientist / AI Engineer</a:t>
            </a:r>
            <a:endParaRPr lang="en-US" sz="1200">
              <a:latin typeface="72 Brand" panose="020B0504030603020204" pitchFamily="34" charset="0"/>
            </a:endParaRP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lang="en-DE" sz="1400" b="1" kern="0">
              <a:solidFill>
                <a:srgbClr val="002986"/>
              </a:solidFill>
              <a:latin typeface="72 Brand" panose="020B0504030603020204" pitchFamily="34" charset="0"/>
              <a:ea typeface="Arial Unicode MS" pitchFamily="34" charset="-128"/>
              <a:cs typeface="Arial Unicode MS" pitchFamily="34" charset="-128"/>
              <a:sym typeface="72" panose="020B0503030000000003" pitchFamily="34" charset="0"/>
            </a:endParaRP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1" i="0" u="none" strike="noStrike" kern="0" cap="none" spc="0" normalizeH="0" baseline="0" noProof="0">
              <a:ln>
                <a:noFill/>
              </a:ln>
              <a:solidFill>
                <a:srgbClr val="002986"/>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endParaRPr>
          </a:p>
        </p:txBody>
      </p:sp>
      <p:sp>
        <p:nvSpPr>
          <p:cNvPr id="5" name="Rectangle 101">
            <a:extLst>
              <a:ext uri="{FF2B5EF4-FFF2-40B4-BE49-F238E27FC236}">
                <a16:creationId xmlns:a16="http://schemas.microsoft.com/office/drawing/2014/main" id="{DA8AFB3B-7C7D-6988-FDFD-E61E597FF514}"/>
              </a:ext>
            </a:extLst>
          </p:cNvPr>
          <p:cNvSpPr/>
          <p:nvPr/>
        </p:nvSpPr>
        <p:spPr bwMode="gray">
          <a:xfrm>
            <a:off x="8820807" y="2015927"/>
            <a:ext cx="3118896" cy="1268012"/>
          </a:xfrm>
          <a:prstGeom prst="roundRect">
            <a:avLst>
              <a:gd name="adj" fmla="val 6587"/>
            </a:avLst>
          </a:prstGeom>
          <a:noFill/>
          <a:ln w="9525" algn="ctr">
            <a:solidFill>
              <a:srgbClr val="ACB6C0"/>
            </a:solidFill>
            <a:miter lim="800000"/>
            <a:headEnd/>
            <a:tailEnd/>
          </a:ln>
        </p:spPr>
        <p:txBody>
          <a:bodyPr lIns="90000" tIns="72000" rIns="90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Goal</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DE" sz="1200">
                <a:latin typeface="72 Brand" panose="020B0504030603020204" pitchFamily="34" charset="0"/>
              </a:rPr>
              <a:t>Integrate AI Foundation LLM services in SAP Databricks</a:t>
            </a:r>
          </a:p>
          <a:p>
            <a:pPr marL="285750" indent="-285750" defTabSz="914400" fontAlgn="base">
              <a:spcBef>
                <a:spcPct val="50000"/>
              </a:spcBef>
              <a:spcAft>
                <a:spcPct val="0"/>
              </a:spcAft>
              <a:buClr>
                <a:srgbClr val="F0AB00"/>
              </a:buClr>
              <a:buSzPct val="80000"/>
              <a:buFont typeface="Wingdings" panose="05000000000000000000" pitchFamily="2" charset="2"/>
              <a:buChar char="§"/>
              <a:defRPr/>
            </a:pPr>
            <a:r>
              <a:rPr lang="en-DE" sz="1200">
                <a:latin typeface="72 Brand" panose="020B0504030603020204" pitchFamily="34" charset="0"/>
              </a:rPr>
              <a:t>Explain and interpret key drivers for attrition in human readable manner</a:t>
            </a:r>
          </a:p>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1" i="0" u="none" strike="noStrike" kern="0" cap="none" spc="0" normalizeH="0" baseline="0" noProof="0">
              <a:ln>
                <a:noFill/>
              </a:ln>
              <a:solidFill>
                <a:srgbClr val="002986"/>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endParaRPr>
          </a:p>
        </p:txBody>
      </p:sp>
      <p:sp>
        <p:nvSpPr>
          <p:cNvPr id="6" name="Abgerundetes Rechteck 206">
            <a:extLst>
              <a:ext uri="{FF2B5EF4-FFF2-40B4-BE49-F238E27FC236}">
                <a16:creationId xmlns:a16="http://schemas.microsoft.com/office/drawing/2014/main" id="{3549339C-38A2-A44C-9205-D50C8B8E4A0C}"/>
              </a:ext>
            </a:extLst>
          </p:cNvPr>
          <p:cNvSpPr/>
          <p:nvPr/>
        </p:nvSpPr>
        <p:spPr bwMode="gray">
          <a:xfrm>
            <a:off x="188259" y="2502895"/>
            <a:ext cx="8482775" cy="3929926"/>
          </a:xfrm>
          <a:prstGeom prst="roundRect">
            <a:avLst>
              <a:gd name="adj" fmla="val 2462"/>
            </a:avLst>
          </a:prstGeom>
          <a:noFill/>
          <a:ln w="9525" algn="ctr">
            <a:solidFill>
              <a:srgbClr val="ACB6C0"/>
            </a:solidFill>
            <a:miter lim="800000"/>
            <a:headEnd/>
            <a:tailEnd/>
          </a:ln>
        </p:spPr>
        <p:txBody>
          <a:bodyPr lIns="90000" tIns="72000" rIns="90000" bIns="72000" rtlCol="0" anchor="t" anchorCtr="0"/>
          <a:lstStyle/>
          <a:p>
            <a:pPr defTabSz="914400" fontAlgn="base">
              <a:spcBef>
                <a:spcPct val="50000"/>
              </a:spcBef>
              <a:spcAft>
                <a:spcPct val="0"/>
              </a:spcAft>
              <a:buClr>
                <a:srgbClr val="F0AB00"/>
              </a:buClr>
              <a:buSzPct val="80000"/>
            </a:pPr>
            <a:r>
              <a:rPr lang="en-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rPr>
              <a:t>Scenario Flow</a:t>
            </a:r>
            <a:endParaRPr lang="de-DE" sz="1400" b="1" kern="0">
              <a:solidFill>
                <a:schemeClr val="bg2">
                  <a:lumMod val="75000"/>
                </a:schemeClr>
              </a:solidFill>
              <a:latin typeface="72 Brand" panose="020B0504030603020204" pitchFamily="34" charset="0"/>
              <a:ea typeface="Arial Unicode MS" pitchFamily="34" charset="-128"/>
              <a:sym typeface="72" panose="020B0503030000000003" pitchFamily="34" charset="0"/>
            </a:endParaRPr>
          </a:p>
        </p:txBody>
      </p:sp>
      <p:sp>
        <p:nvSpPr>
          <p:cNvPr id="7" name="Rounded Rectangle 23">
            <a:extLst>
              <a:ext uri="{FF2B5EF4-FFF2-40B4-BE49-F238E27FC236}">
                <a16:creationId xmlns:a16="http://schemas.microsoft.com/office/drawing/2014/main" id="{6CF259DA-16E4-31B5-29B1-14159C6587B2}"/>
              </a:ext>
            </a:extLst>
          </p:cNvPr>
          <p:cNvSpPr/>
          <p:nvPr/>
        </p:nvSpPr>
        <p:spPr bwMode="gray">
          <a:xfrm>
            <a:off x="7094155" y="3510819"/>
            <a:ext cx="1479699" cy="910055"/>
          </a:xfrm>
          <a:prstGeom prst="roundRect">
            <a:avLst>
              <a:gd name="adj" fmla="val 2921"/>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Datasphere</a:t>
            </a:r>
          </a:p>
        </p:txBody>
      </p:sp>
      <p:sp>
        <p:nvSpPr>
          <p:cNvPr id="11" name="Rounded Rectangle 23">
            <a:extLst>
              <a:ext uri="{FF2B5EF4-FFF2-40B4-BE49-F238E27FC236}">
                <a16:creationId xmlns:a16="http://schemas.microsoft.com/office/drawing/2014/main" id="{2C22C1F8-06E8-6DCA-5C45-A0C42A953477}"/>
              </a:ext>
            </a:extLst>
          </p:cNvPr>
          <p:cNvSpPr/>
          <p:nvPr/>
        </p:nvSpPr>
        <p:spPr bwMode="gray">
          <a:xfrm>
            <a:off x="3763175" y="4601298"/>
            <a:ext cx="4794635" cy="1006889"/>
          </a:xfrm>
          <a:prstGeom prst="roundRect">
            <a:avLst>
              <a:gd name="adj" fmla="val 2327"/>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BDC Cockpit</a:t>
            </a:r>
          </a:p>
        </p:txBody>
      </p:sp>
      <p:sp>
        <p:nvSpPr>
          <p:cNvPr id="12" name="Rectangle: Rounded Corners 39">
            <a:extLst>
              <a:ext uri="{FF2B5EF4-FFF2-40B4-BE49-F238E27FC236}">
                <a16:creationId xmlns:a16="http://schemas.microsoft.com/office/drawing/2014/main" id="{E2829761-C81D-FDCB-3133-51A626705A78}"/>
              </a:ext>
            </a:extLst>
          </p:cNvPr>
          <p:cNvSpPr/>
          <p:nvPr/>
        </p:nvSpPr>
        <p:spPr bwMode="auto">
          <a:xfrm>
            <a:off x="3860903" y="4910872"/>
            <a:ext cx="4348102" cy="621875"/>
          </a:xfrm>
          <a:prstGeom prst="roundRect">
            <a:avLst>
              <a:gd name="adj" fmla="val 3368"/>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8000" tIns="54000" rIns="90000" bIns="90000" numCol="1" spcCol="0" rtlCol="0" fromWordArt="0" anchor="t" anchorCtr="0" forceAA="0" compatLnSpc="1">
            <a:prstTxWarp prst="textNoShape">
              <a:avLst/>
            </a:prstTxWarp>
            <a:noAutofit/>
          </a:bodyPr>
          <a:lstStyle/>
          <a:p>
            <a:pPr marL="0" marR="0" lvl="0" indent="0" algn="l" defTabSz="913304"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endParaRPr>
          </a:p>
        </p:txBody>
      </p:sp>
      <p:pic>
        <p:nvPicPr>
          <p:cNvPr id="13" name="Graphic 12">
            <a:extLst>
              <a:ext uri="{FF2B5EF4-FFF2-40B4-BE49-F238E27FC236}">
                <a16:creationId xmlns:a16="http://schemas.microsoft.com/office/drawing/2014/main" id="{35A7E3F0-7029-CCAD-9417-C846A15D9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948441" y="5005745"/>
            <a:ext cx="180000" cy="191251"/>
          </a:xfrm>
          <a:prstGeom prst="rect">
            <a:avLst/>
          </a:prstGeom>
          <a:effectLst/>
        </p:spPr>
      </p:pic>
      <p:sp>
        <p:nvSpPr>
          <p:cNvPr id="14" name="TextBox 13">
            <a:extLst>
              <a:ext uri="{FF2B5EF4-FFF2-40B4-BE49-F238E27FC236}">
                <a16:creationId xmlns:a16="http://schemas.microsoft.com/office/drawing/2014/main" id="{4B12344A-9E39-5B5B-6F1C-9CD0BBEA275F}"/>
              </a:ext>
            </a:extLst>
          </p:cNvPr>
          <p:cNvSpPr txBox="1"/>
          <p:nvPr/>
        </p:nvSpPr>
        <p:spPr>
          <a:xfrm>
            <a:off x="4165817" y="5015987"/>
            <a:ext cx="730969" cy="153888"/>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Data Catalog</a:t>
            </a:r>
          </a:p>
        </p:txBody>
      </p:sp>
      <p:sp>
        <p:nvSpPr>
          <p:cNvPr id="15" name="Rounded Rectangle 23">
            <a:extLst>
              <a:ext uri="{FF2B5EF4-FFF2-40B4-BE49-F238E27FC236}">
                <a16:creationId xmlns:a16="http://schemas.microsoft.com/office/drawing/2014/main" id="{467348AF-0C97-8A77-36EA-9C305E97D2FE}"/>
              </a:ext>
            </a:extLst>
          </p:cNvPr>
          <p:cNvSpPr/>
          <p:nvPr/>
        </p:nvSpPr>
        <p:spPr bwMode="gray">
          <a:xfrm>
            <a:off x="5046291" y="2686185"/>
            <a:ext cx="1929802" cy="1749531"/>
          </a:xfrm>
          <a:prstGeom prst="roundRect">
            <a:avLst>
              <a:gd name="adj" fmla="val 1168"/>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Databricks</a:t>
            </a:r>
          </a:p>
        </p:txBody>
      </p:sp>
      <p:sp>
        <p:nvSpPr>
          <p:cNvPr id="16" name="Rectangle: Rounded Corners 39">
            <a:extLst>
              <a:ext uri="{FF2B5EF4-FFF2-40B4-BE49-F238E27FC236}">
                <a16:creationId xmlns:a16="http://schemas.microsoft.com/office/drawing/2014/main" id="{9594C5CA-630E-C956-02D4-ED766B07F79E}"/>
              </a:ext>
            </a:extLst>
          </p:cNvPr>
          <p:cNvSpPr/>
          <p:nvPr/>
        </p:nvSpPr>
        <p:spPr bwMode="auto">
          <a:xfrm>
            <a:off x="5123007" y="2977724"/>
            <a:ext cx="1766874" cy="1379924"/>
          </a:xfrm>
          <a:prstGeom prst="roundRect">
            <a:avLst>
              <a:gd name="adj" fmla="val 3723"/>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8000" tIns="54000" rIns="90000" bIns="90000" numCol="1" spcCol="0" rtlCol="0" fromWordArt="0" anchor="t" anchorCtr="0" forceAA="0" compatLnSpc="1">
            <a:prstTxWarp prst="textNoShape">
              <a:avLst/>
            </a:prstTxWarp>
            <a:noAutofit/>
          </a:bodyPr>
          <a:lstStyle/>
          <a:p>
            <a:pPr marL="0" marR="0" lvl="0" indent="0" algn="l" defTabSz="913304"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endParaRPr>
          </a:p>
        </p:txBody>
      </p:sp>
      <p:sp>
        <p:nvSpPr>
          <p:cNvPr id="17" name="TextBox 16">
            <a:extLst>
              <a:ext uri="{FF2B5EF4-FFF2-40B4-BE49-F238E27FC236}">
                <a16:creationId xmlns:a16="http://schemas.microsoft.com/office/drawing/2014/main" id="{854492EE-B418-17E4-96E0-197863B89AA8}"/>
              </a:ext>
            </a:extLst>
          </p:cNvPr>
          <p:cNvSpPr txBox="1"/>
          <p:nvPr/>
        </p:nvSpPr>
        <p:spPr>
          <a:xfrm>
            <a:off x="5217007" y="3519372"/>
            <a:ext cx="775138" cy="307777"/>
          </a:xfrm>
          <a:prstGeom prst="rect">
            <a:avLst/>
          </a:prstGeom>
          <a:noFill/>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Unity </a:t>
            </a:r>
            <a:br>
              <a:rPr kumimoji="0" lang="en-DE"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br>
            <a:r>
              <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Catalog</a:t>
            </a:r>
          </a:p>
        </p:txBody>
      </p:sp>
      <p:sp>
        <p:nvSpPr>
          <p:cNvPr id="18" name="Rounded Rectangle 23">
            <a:extLst>
              <a:ext uri="{FF2B5EF4-FFF2-40B4-BE49-F238E27FC236}">
                <a16:creationId xmlns:a16="http://schemas.microsoft.com/office/drawing/2014/main" id="{1EA9B5D7-AB2C-3EC9-6B69-353BC909195C}"/>
              </a:ext>
            </a:extLst>
          </p:cNvPr>
          <p:cNvSpPr/>
          <p:nvPr/>
        </p:nvSpPr>
        <p:spPr bwMode="gray">
          <a:xfrm>
            <a:off x="7086217" y="2686185"/>
            <a:ext cx="1479699" cy="716694"/>
          </a:xfrm>
          <a:prstGeom prst="roundRect">
            <a:avLst>
              <a:gd name="adj" fmla="val 5088"/>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marL="0" marR="0" lvl="0" indent="0" algn="l" defTabSz="1088449"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72 Brand Medium"/>
                <a:ea typeface="+mn-ea"/>
                <a:cs typeface="+mn-cs"/>
              </a:rPr>
              <a:t>SAP Analytics Cloud</a:t>
            </a:r>
          </a:p>
        </p:txBody>
      </p:sp>
      <p:sp>
        <p:nvSpPr>
          <p:cNvPr id="19" name="Rounded Rectangle 23">
            <a:extLst>
              <a:ext uri="{FF2B5EF4-FFF2-40B4-BE49-F238E27FC236}">
                <a16:creationId xmlns:a16="http://schemas.microsoft.com/office/drawing/2014/main" id="{3253FD83-FB73-C8F2-1688-DF7F322B1093}"/>
              </a:ext>
            </a:extLst>
          </p:cNvPr>
          <p:cNvSpPr/>
          <p:nvPr/>
        </p:nvSpPr>
        <p:spPr bwMode="gray">
          <a:xfrm>
            <a:off x="3763176" y="5713067"/>
            <a:ext cx="4794638" cy="505231"/>
          </a:xfrm>
          <a:prstGeom prst="roundRect">
            <a:avLst>
              <a:gd name="adj" fmla="val 2868"/>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defTabSz="1088449"/>
            <a:r>
              <a:rPr lang="en-US" sz="1100">
                <a:solidFill>
                  <a:srgbClr val="000000"/>
                </a:solidFill>
                <a:latin typeface="72 Brand Medium"/>
              </a:rPr>
              <a:t>SAP Foundation </a:t>
            </a:r>
            <a:br>
              <a:rPr lang="en-DE" sz="1100">
                <a:solidFill>
                  <a:srgbClr val="000000"/>
                </a:solidFill>
                <a:latin typeface="72 Brand Medium"/>
              </a:rPr>
            </a:br>
            <a:r>
              <a:rPr lang="en-US" sz="1100">
                <a:solidFill>
                  <a:srgbClr val="000000"/>
                </a:solidFill>
                <a:latin typeface="72 Brand Medium"/>
              </a:rPr>
              <a:t>Service</a:t>
            </a:r>
          </a:p>
        </p:txBody>
      </p:sp>
      <p:grpSp>
        <p:nvGrpSpPr>
          <p:cNvPr id="20" name="Group 19">
            <a:extLst>
              <a:ext uri="{FF2B5EF4-FFF2-40B4-BE49-F238E27FC236}">
                <a16:creationId xmlns:a16="http://schemas.microsoft.com/office/drawing/2014/main" id="{D729841F-AA4E-F017-AC1F-3D8CA0E5CA6D}"/>
              </a:ext>
            </a:extLst>
          </p:cNvPr>
          <p:cNvGrpSpPr/>
          <p:nvPr/>
        </p:nvGrpSpPr>
        <p:grpSpPr>
          <a:xfrm>
            <a:off x="5121708" y="5843999"/>
            <a:ext cx="1324062" cy="270597"/>
            <a:chOff x="7338028" y="3715150"/>
            <a:chExt cx="1324062" cy="270597"/>
          </a:xfrm>
        </p:grpSpPr>
        <p:sp>
          <p:nvSpPr>
            <p:cNvPr id="21" name="Rectangle: Rounded Corners 39">
              <a:extLst>
                <a:ext uri="{FF2B5EF4-FFF2-40B4-BE49-F238E27FC236}">
                  <a16:creationId xmlns:a16="http://schemas.microsoft.com/office/drawing/2014/main" id="{31B6D5E5-4F43-AB4E-7A78-4CF269840395}"/>
                </a:ext>
              </a:extLst>
            </p:cNvPr>
            <p:cNvSpPr/>
            <p:nvPr/>
          </p:nvSpPr>
          <p:spPr bwMode="auto">
            <a:xfrm>
              <a:off x="7338028" y="3715150"/>
              <a:ext cx="1324062" cy="270597"/>
            </a:xfrm>
            <a:prstGeom prst="roundRect">
              <a:avLst>
                <a:gd name="adj" fmla="val 10479"/>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SAP Data product</a:t>
              </a:r>
            </a:p>
          </p:txBody>
        </p:sp>
        <p:pic>
          <p:nvPicPr>
            <p:cNvPr id="22" name="Graphic 21">
              <a:extLst>
                <a:ext uri="{FF2B5EF4-FFF2-40B4-BE49-F238E27FC236}">
                  <a16:creationId xmlns:a16="http://schemas.microsoft.com/office/drawing/2014/main" id="{B6A55BDF-3BF3-D803-2E35-356EE3A16E9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24315" y="3786221"/>
              <a:ext cx="122942" cy="122942"/>
            </a:xfrm>
            <a:prstGeom prst="rect">
              <a:avLst/>
            </a:prstGeom>
          </p:spPr>
        </p:pic>
      </p:grpSp>
      <p:sp>
        <p:nvSpPr>
          <p:cNvPr id="23" name="Rectangle: Rounded Corners 39">
            <a:extLst>
              <a:ext uri="{FF2B5EF4-FFF2-40B4-BE49-F238E27FC236}">
                <a16:creationId xmlns:a16="http://schemas.microsoft.com/office/drawing/2014/main" id="{D48514B6-47C5-E037-5CE3-7106D96FEFF8}"/>
              </a:ext>
            </a:extLst>
          </p:cNvPr>
          <p:cNvSpPr/>
          <p:nvPr/>
        </p:nvSpPr>
        <p:spPr bwMode="auto">
          <a:xfrm>
            <a:off x="5872667" y="3036775"/>
            <a:ext cx="868438" cy="252000"/>
          </a:xfrm>
          <a:prstGeom prst="roundRect">
            <a:avLst>
              <a:gd name="adj" fmla="val 10479"/>
            </a:avLst>
          </a:prstGeom>
          <a:solidFill>
            <a:schemeClr val="bg2"/>
          </a:solidFill>
          <a:ln w="9525">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rPr>
              <a:t>Notebook</a:t>
            </a:r>
          </a:p>
        </p:txBody>
      </p:sp>
      <p:pic>
        <p:nvPicPr>
          <p:cNvPr id="24" name="Graphic 23">
            <a:extLst>
              <a:ext uri="{FF2B5EF4-FFF2-40B4-BE49-F238E27FC236}">
                <a16:creationId xmlns:a16="http://schemas.microsoft.com/office/drawing/2014/main" id="{F33B14F1-7D1C-0736-E9DC-75B0641388E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932191" y="3108267"/>
            <a:ext cx="126000" cy="126000"/>
          </a:xfrm>
          <a:prstGeom prst="rect">
            <a:avLst/>
          </a:prstGeom>
        </p:spPr>
      </p:pic>
      <p:grpSp>
        <p:nvGrpSpPr>
          <p:cNvPr id="28" name="Group 27">
            <a:extLst>
              <a:ext uri="{FF2B5EF4-FFF2-40B4-BE49-F238E27FC236}">
                <a16:creationId xmlns:a16="http://schemas.microsoft.com/office/drawing/2014/main" id="{7B5746A7-89D1-B731-9276-58363D5A8DA6}"/>
              </a:ext>
            </a:extLst>
          </p:cNvPr>
          <p:cNvGrpSpPr/>
          <p:nvPr/>
        </p:nvGrpSpPr>
        <p:grpSpPr>
          <a:xfrm>
            <a:off x="5236496" y="3980732"/>
            <a:ext cx="1080555" cy="252000"/>
            <a:chOff x="6727746" y="1746824"/>
            <a:chExt cx="1332000" cy="252000"/>
          </a:xfrm>
        </p:grpSpPr>
        <p:pic>
          <p:nvPicPr>
            <p:cNvPr id="29" name="Graphic 28">
              <a:extLst>
                <a:ext uri="{FF2B5EF4-FFF2-40B4-BE49-F238E27FC236}">
                  <a16:creationId xmlns:a16="http://schemas.microsoft.com/office/drawing/2014/main" id="{76E9B56E-4D33-9291-4422-8E90E7A05F1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02501" y="1809824"/>
              <a:ext cx="126000" cy="126000"/>
            </a:xfrm>
            <a:prstGeom prst="rect">
              <a:avLst/>
            </a:prstGeom>
          </p:spPr>
        </p:pic>
        <p:sp>
          <p:nvSpPr>
            <p:cNvPr id="30" name="Rectangle: Rounded Corners 39">
              <a:extLst>
                <a:ext uri="{FF2B5EF4-FFF2-40B4-BE49-F238E27FC236}">
                  <a16:creationId xmlns:a16="http://schemas.microsoft.com/office/drawing/2014/main" id="{38A90373-C835-3298-D6A4-380233CE62D4}"/>
                </a:ext>
              </a:extLst>
            </p:cNvPr>
            <p:cNvSpPr/>
            <p:nvPr/>
          </p:nvSpPr>
          <p:spPr bwMode="auto">
            <a:xfrm>
              <a:off x="6727746" y="1746824"/>
              <a:ext cx="1332000"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252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SAP Data product</a:t>
              </a:r>
            </a:p>
          </p:txBody>
        </p:sp>
      </p:grpSp>
      <p:sp>
        <p:nvSpPr>
          <p:cNvPr id="32" name="Rectangle: Rounded Corners 91">
            <a:extLst>
              <a:ext uri="{FF2B5EF4-FFF2-40B4-BE49-F238E27FC236}">
                <a16:creationId xmlns:a16="http://schemas.microsoft.com/office/drawing/2014/main" id="{E295DFC3-FE5D-DC3D-06D1-4C7E8F6B7DBE}"/>
              </a:ext>
            </a:extLst>
          </p:cNvPr>
          <p:cNvSpPr/>
          <p:nvPr/>
        </p:nvSpPr>
        <p:spPr bwMode="gray">
          <a:xfrm>
            <a:off x="5495701" y="5554170"/>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Expose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cxnSp>
        <p:nvCxnSpPr>
          <p:cNvPr id="33" name="Straight Arrow Connector 32">
            <a:extLst>
              <a:ext uri="{FF2B5EF4-FFF2-40B4-BE49-F238E27FC236}">
                <a16:creationId xmlns:a16="http://schemas.microsoft.com/office/drawing/2014/main" id="{50874F65-6E72-9CD4-FC9F-236CB1459704}"/>
              </a:ext>
            </a:extLst>
          </p:cNvPr>
          <p:cNvCxnSpPr>
            <a:cxnSpLocks/>
            <a:stCxn id="21" idx="0"/>
            <a:endCxn id="32" idx="2"/>
          </p:cNvCxnSpPr>
          <p:nvPr/>
        </p:nvCxnSpPr>
        <p:spPr>
          <a:xfrm flipV="1">
            <a:off x="5783739" y="5698170"/>
            <a:ext cx="8962" cy="145829"/>
          </a:xfrm>
          <a:prstGeom prst="straightConnector1">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4" name="Abgerundetes Rechteck 18">
            <a:extLst>
              <a:ext uri="{FF2B5EF4-FFF2-40B4-BE49-F238E27FC236}">
                <a16:creationId xmlns:a16="http://schemas.microsoft.com/office/drawing/2014/main" id="{3C35EC68-3FE8-5B6F-E07F-81184B297876}"/>
              </a:ext>
            </a:extLst>
          </p:cNvPr>
          <p:cNvSpPr/>
          <p:nvPr/>
        </p:nvSpPr>
        <p:spPr bwMode="gray">
          <a:xfrm>
            <a:off x="5152317" y="5470461"/>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lang="en-DE" sz="1200">
                <a:solidFill>
                  <a:srgbClr val="FFFFFF"/>
                </a:solidFill>
                <a:latin typeface="72 Brand Medium"/>
              </a:rPr>
              <a:t>1</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35" name="Abgerundetes Rechteck 18">
            <a:extLst>
              <a:ext uri="{FF2B5EF4-FFF2-40B4-BE49-F238E27FC236}">
                <a16:creationId xmlns:a16="http://schemas.microsoft.com/office/drawing/2014/main" id="{09F5CD33-C4DD-D92C-0AE8-F4F3A8370577}"/>
              </a:ext>
            </a:extLst>
          </p:cNvPr>
          <p:cNvSpPr/>
          <p:nvPr/>
        </p:nvSpPr>
        <p:spPr bwMode="gray">
          <a:xfrm>
            <a:off x="6598576" y="2878867"/>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4</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pic>
        <p:nvPicPr>
          <p:cNvPr id="41" name="Graphic 40">
            <a:extLst>
              <a:ext uri="{FF2B5EF4-FFF2-40B4-BE49-F238E27FC236}">
                <a16:creationId xmlns:a16="http://schemas.microsoft.com/office/drawing/2014/main" id="{81F53CED-51BC-D866-3361-AB93D5E5659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262211" y="3296125"/>
            <a:ext cx="180000" cy="191251"/>
          </a:xfrm>
          <a:prstGeom prst="rect">
            <a:avLst/>
          </a:prstGeom>
          <a:effectLst/>
        </p:spPr>
      </p:pic>
      <p:sp>
        <p:nvSpPr>
          <p:cNvPr id="42" name="Rectangle: Rounded Corners 39">
            <a:extLst>
              <a:ext uri="{FF2B5EF4-FFF2-40B4-BE49-F238E27FC236}">
                <a16:creationId xmlns:a16="http://schemas.microsoft.com/office/drawing/2014/main" id="{F2D8DFFA-1B99-338A-8566-F7AC3E58ECE4}"/>
              </a:ext>
            </a:extLst>
          </p:cNvPr>
          <p:cNvSpPr/>
          <p:nvPr/>
        </p:nvSpPr>
        <p:spPr bwMode="auto">
          <a:xfrm>
            <a:off x="5864989" y="3459624"/>
            <a:ext cx="874696" cy="252000"/>
          </a:xfrm>
          <a:prstGeom prst="roundRect">
            <a:avLst>
              <a:gd name="adj" fmla="val 10479"/>
            </a:avLst>
          </a:prstGeom>
          <a:solidFill>
            <a:schemeClr val="bg2"/>
          </a:solidFill>
          <a:ln w="9525">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lang="en-DE" sz="800">
                <a:solidFill>
                  <a:srgbClr val="00144A"/>
                </a:solidFill>
                <a:latin typeface="72 Brand"/>
                <a:cs typeface="72" panose="020B0503030000000003" pitchFamily="34" charset="0"/>
              </a:rPr>
              <a:t>ML Model</a:t>
            </a:r>
            <a:endPar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endParaRPr>
          </a:p>
        </p:txBody>
      </p:sp>
      <p:cxnSp>
        <p:nvCxnSpPr>
          <p:cNvPr id="45" name="Gewinkelte Verbindung 26">
            <a:extLst>
              <a:ext uri="{FF2B5EF4-FFF2-40B4-BE49-F238E27FC236}">
                <a16:creationId xmlns:a16="http://schemas.microsoft.com/office/drawing/2014/main" id="{208D113C-9DBA-D5F3-2B2C-16760BC2714D}"/>
              </a:ext>
            </a:extLst>
          </p:cNvPr>
          <p:cNvCxnSpPr>
            <a:cxnSpLocks/>
            <a:stCxn id="23" idx="2"/>
            <a:endCxn id="42" idx="0"/>
          </p:cNvCxnSpPr>
          <p:nvPr/>
        </p:nvCxnSpPr>
        <p:spPr>
          <a:xfrm rot="5400000">
            <a:off x="6219188" y="3371925"/>
            <a:ext cx="170849" cy="4549"/>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46" name="Graphic 45">
            <a:extLst>
              <a:ext uri="{FF2B5EF4-FFF2-40B4-BE49-F238E27FC236}">
                <a16:creationId xmlns:a16="http://schemas.microsoft.com/office/drawing/2014/main" id="{9826A275-56B9-8CC2-04D2-208D12232FA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294750" y="4050710"/>
            <a:ext cx="123127" cy="126000"/>
          </a:xfrm>
          <a:prstGeom prst="rect">
            <a:avLst/>
          </a:prstGeom>
        </p:spPr>
      </p:pic>
      <p:sp>
        <p:nvSpPr>
          <p:cNvPr id="47" name="Rectangle: Rounded Corners 39">
            <a:extLst>
              <a:ext uri="{FF2B5EF4-FFF2-40B4-BE49-F238E27FC236}">
                <a16:creationId xmlns:a16="http://schemas.microsoft.com/office/drawing/2014/main" id="{D034B61D-F00C-6ED9-16C9-680123DEBB6F}"/>
              </a:ext>
            </a:extLst>
          </p:cNvPr>
          <p:cNvSpPr/>
          <p:nvPr/>
        </p:nvSpPr>
        <p:spPr bwMode="auto">
          <a:xfrm>
            <a:off x="5975672" y="3646427"/>
            <a:ext cx="874696"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lang="en-DE" sz="800">
                <a:solidFill>
                  <a:srgbClr val="00144A"/>
                </a:solidFill>
                <a:latin typeface="72 Brand"/>
                <a:cs typeface="72" panose="020B0503030000000003" pitchFamily="34" charset="0"/>
              </a:rPr>
              <a:t>Result Set</a:t>
            </a:r>
            <a:endPar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endParaRPr>
          </a:p>
        </p:txBody>
      </p:sp>
      <p:cxnSp>
        <p:nvCxnSpPr>
          <p:cNvPr id="49" name="Gewinkelte Verbindung 26">
            <a:extLst>
              <a:ext uri="{FF2B5EF4-FFF2-40B4-BE49-F238E27FC236}">
                <a16:creationId xmlns:a16="http://schemas.microsoft.com/office/drawing/2014/main" id="{90515253-8E7B-6A7D-12D1-7605D33F7C52}"/>
              </a:ext>
            </a:extLst>
          </p:cNvPr>
          <p:cNvCxnSpPr>
            <a:cxnSpLocks/>
            <a:stCxn id="30" idx="0"/>
            <a:endCxn id="23" idx="1"/>
          </p:cNvCxnSpPr>
          <p:nvPr/>
        </p:nvCxnSpPr>
        <p:spPr>
          <a:xfrm rot="5400000" flipH="1" flipV="1">
            <a:off x="5415742" y="3523808"/>
            <a:ext cx="817957" cy="95893"/>
          </a:xfrm>
          <a:prstGeom prst="bentConnector2">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C7C3C7B-566D-3ACD-299E-A17356291861}"/>
              </a:ext>
            </a:extLst>
          </p:cNvPr>
          <p:cNvCxnSpPr>
            <a:cxnSpLocks/>
            <a:stCxn id="32" idx="0"/>
          </p:cNvCxnSpPr>
          <p:nvPr/>
        </p:nvCxnSpPr>
        <p:spPr>
          <a:xfrm flipH="1" flipV="1">
            <a:off x="5787708" y="5352781"/>
            <a:ext cx="4993" cy="201389"/>
          </a:xfrm>
          <a:prstGeom prst="straightConnector1">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Gewinkelte Verbindung 26">
            <a:extLst>
              <a:ext uri="{FF2B5EF4-FFF2-40B4-BE49-F238E27FC236}">
                <a16:creationId xmlns:a16="http://schemas.microsoft.com/office/drawing/2014/main" id="{9052525A-3BF0-945D-A9B5-81D40A63B6AE}"/>
              </a:ext>
            </a:extLst>
          </p:cNvPr>
          <p:cNvCxnSpPr>
            <a:cxnSpLocks/>
            <a:endCxn id="30" idx="2"/>
          </p:cNvCxnSpPr>
          <p:nvPr/>
        </p:nvCxnSpPr>
        <p:spPr>
          <a:xfrm rot="16200000" flipV="1">
            <a:off x="5348217" y="4661289"/>
            <a:ext cx="868050" cy="10935"/>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Gewinkelte Verbindung 26">
            <a:extLst>
              <a:ext uri="{FF2B5EF4-FFF2-40B4-BE49-F238E27FC236}">
                <a16:creationId xmlns:a16="http://schemas.microsoft.com/office/drawing/2014/main" id="{FF57AC65-F167-1FF0-5C28-F88A56C3919B}"/>
              </a:ext>
            </a:extLst>
          </p:cNvPr>
          <p:cNvCxnSpPr>
            <a:cxnSpLocks/>
            <a:stCxn id="47" idx="2"/>
          </p:cNvCxnSpPr>
          <p:nvPr/>
        </p:nvCxnSpPr>
        <p:spPr>
          <a:xfrm rot="16200000" flipH="1">
            <a:off x="5979527" y="4331920"/>
            <a:ext cx="1256925" cy="389938"/>
          </a:xfrm>
          <a:prstGeom prst="bentConnector2">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Rectangle 101">
            <a:extLst>
              <a:ext uri="{FF2B5EF4-FFF2-40B4-BE49-F238E27FC236}">
                <a16:creationId xmlns:a16="http://schemas.microsoft.com/office/drawing/2014/main" id="{DA9A0530-1226-6E07-CFCC-C09F34D8E55F}"/>
              </a:ext>
            </a:extLst>
          </p:cNvPr>
          <p:cNvSpPr/>
          <p:nvPr/>
        </p:nvSpPr>
        <p:spPr bwMode="gray">
          <a:xfrm>
            <a:off x="8820807" y="3425346"/>
            <a:ext cx="3118896" cy="3007475"/>
          </a:xfrm>
          <a:prstGeom prst="roundRect">
            <a:avLst>
              <a:gd name="adj" fmla="val 2205"/>
            </a:avLst>
          </a:prstGeom>
          <a:noFill/>
          <a:ln w="9525" algn="ctr">
            <a:solidFill>
              <a:srgbClr val="ACB6C0"/>
            </a:solidFill>
            <a:miter lim="800000"/>
            <a:headEnd/>
            <a:tailEnd/>
          </a:ln>
        </p:spPr>
        <p:txBody>
          <a:bodyPr lIns="90000" tIns="72000" rIns="90000" bIns="72000" rtlCol="0" anchor="t" anchorCtr="0"/>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400" b="1" i="0" u="none" strike="noStrike" kern="0" cap="none" spc="0" normalizeH="0" baseline="0" noProof="0">
                <a:ln>
                  <a:noFill/>
                </a:ln>
                <a:solidFill>
                  <a:schemeClr val="bg2">
                    <a:lumMod val="75000"/>
                  </a:schemeClr>
                </a:solidFill>
                <a:effectLst/>
                <a:uLnTx/>
                <a:uFillTx/>
                <a:latin typeface="72 Brand" panose="020B0504030603020204" pitchFamily="34" charset="0"/>
                <a:ea typeface="Arial Unicode MS" pitchFamily="34" charset="-128"/>
                <a:cs typeface="Arial Unicode MS" pitchFamily="34" charset="-128"/>
                <a:sym typeface="72" panose="020B0503030000000003" pitchFamily="34" charset="0"/>
              </a:rPr>
              <a:t>Learning</a:t>
            </a:r>
          </a:p>
          <a:p>
            <a:pPr marL="171450" indent="-171450">
              <a:buClr>
                <a:srgbClr val="FFC000"/>
              </a:buClr>
              <a:buSzPct val="80000"/>
              <a:buFont typeface="Wingdings" panose="05000000000000000000" pitchFamily="2" charset="2"/>
              <a:buChar char="§"/>
            </a:pPr>
            <a:r>
              <a:rPr lang="en-GB" sz="1200">
                <a:latin typeface="72 Brand" panose="020B0504030603020204" pitchFamily="34" charset="0"/>
              </a:rPr>
              <a:t>A</a:t>
            </a:r>
            <a:r>
              <a:rPr lang="en-DE" sz="1200" err="1">
                <a:latin typeface="72 Brand" panose="020B0504030603020204" pitchFamily="34" charset="0"/>
              </a:rPr>
              <a:t>dvanced</a:t>
            </a:r>
            <a:r>
              <a:rPr lang="en-DE" sz="1200">
                <a:latin typeface="72 Brand" panose="020B0504030603020204" pitchFamily="34" charset="0"/>
              </a:rPr>
              <a:t> ML/AI capabilities</a:t>
            </a:r>
          </a:p>
          <a:p>
            <a:pPr marL="715838" lvl="1" indent="-171450">
              <a:buClr>
                <a:srgbClr val="FFC000"/>
              </a:buClr>
              <a:buSzPct val="80000"/>
              <a:buFont typeface="Wingdings" panose="05000000000000000000" pitchFamily="2" charset="2"/>
              <a:buChar char="§"/>
            </a:pPr>
            <a:r>
              <a:rPr lang="en-DE" sz="1200" err="1">
                <a:latin typeface="72 Brand" panose="020B0504030603020204" pitchFamily="34" charset="0"/>
              </a:rPr>
              <a:t>Determin</a:t>
            </a:r>
            <a:r>
              <a:rPr lang="en-GB" sz="1200">
                <a:latin typeface="72 Brand" panose="020B0504030603020204" pitchFamily="34" charset="0"/>
              </a:rPr>
              <a:t>e</a:t>
            </a:r>
            <a:r>
              <a:rPr lang="en-DE" sz="1200">
                <a:latin typeface="72 Brand" panose="020B0504030603020204" pitchFamily="34" charset="0"/>
              </a:rPr>
              <a:t> key drivers for p</a:t>
            </a:r>
            <a:r>
              <a:rPr lang="en-GB" sz="1200">
                <a:latin typeface="72 Brand" panose="020B0504030603020204" pitchFamily="34" charset="0"/>
              </a:rPr>
              <a:t>ay</a:t>
            </a:r>
            <a:r>
              <a:rPr lang="en-DE" sz="1200" err="1">
                <a:latin typeface="72 Brand" panose="020B0504030603020204" pitchFamily="34" charset="0"/>
              </a:rPr>
              <a:t>ment</a:t>
            </a:r>
            <a:r>
              <a:rPr lang="en-DE" sz="1200">
                <a:latin typeface="72 Brand" panose="020B0504030603020204" pitchFamily="34" charset="0"/>
              </a:rPr>
              <a:t> delay via SHAP values</a:t>
            </a:r>
          </a:p>
          <a:p>
            <a:pPr marL="715838" lvl="1" indent="-171450">
              <a:buClr>
                <a:srgbClr val="FFC000"/>
              </a:buClr>
              <a:buSzPct val="80000"/>
              <a:buFont typeface="Wingdings" panose="05000000000000000000" pitchFamily="2" charset="2"/>
              <a:buChar char="§"/>
            </a:pPr>
            <a:r>
              <a:rPr lang="en-GB" sz="1200">
                <a:latin typeface="72 Brand" panose="020B0504030603020204" pitchFamily="34" charset="0"/>
              </a:rPr>
              <a:t>V</a:t>
            </a:r>
            <a:r>
              <a:rPr lang="en-DE" sz="1200" err="1">
                <a:latin typeface="72 Brand" panose="020B0504030603020204" pitchFamily="34" charset="0"/>
              </a:rPr>
              <a:t>isualizing</a:t>
            </a:r>
            <a:r>
              <a:rPr lang="en-DE" sz="1200">
                <a:latin typeface="72 Brand" panose="020B0504030603020204" pitchFamily="34" charset="0"/>
              </a:rPr>
              <a:t> SHAP values</a:t>
            </a:r>
          </a:p>
          <a:p>
            <a:pPr marL="715838" lvl="1" indent="-171450">
              <a:buClr>
                <a:srgbClr val="FFC000"/>
              </a:buClr>
              <a:buSzPct val="80000"/>
              <a:buFont typeface="Wingdings" panose="05000000000000000000" pitchFamily="2" charset="2"/>
              <a:buChar char="§"/>
            </a:pPr>
            <a:r>
              <a:rPr lang="en-DE" sz="1200">
                <a:latin typeface="72 Brand" panose="020B0504030603020204" pitchFamily="34" charset="0"/>
              </a:rPr>
              <a:t>Hyperparameter optimization with </a:t>
            </a:r>
            <a:r>
              <a:rPr lang="en-DE" sz="1200" err="1">
                <a:latin typeface="72 Brand" panose="020B0504030603020204" pitchFamily="34" charset="0"/>
              </a:rPr>
              <a:t>XGBoost</a:t>
            </a:r>
            <a:endParaRPr lang="en-DE" sz="1200">
              <a:latin typeface="72 Brand" panose="020B0504030603020204" pitchFamily="34" charset="0"/>
            </a:endParaRPr>
          </a:p>
          <a:p>
            <a:pPr marL="715838" lvl="1" indent="-171450">
              <a:buClr>
                <a:srgbClr val="FFC000"/>
              </a:buClr>
              <a:buSzPct val="80000"/>
              <a:buFont typeface="Wingdings" panose="05000000000000000000" pitchFamily="2" charset="2"/>
              <a:buChar char="§"/>
            </a:pP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r>
              <a:rPr lang="en-DE" sz="1200">
                <a:latin typeface="72 Brand" panose="020B0504030603020204" pitchFamily="34" charset="0"/>
              </a:rPr>
              <a:t>Integrating SAP AI Core Service for LLM </a:t>
            </a:r>
          </a:p>
          <a:p>
            <a:pPr marL="715838" lvl="1" indent="-171450">
              <a:buClr>
                <a:srgbClr val="FFC000"/>
              </a:buClr>
              <a:buSzPct val="80000"/>
              <a:buFont typeface="Wingdings" panose="05000000000000000000" pitchFamily="2" charset="2"/>
              <a:buChar char="§"/>
            </a:pPr>
            <a:r>
              <a:rPr lang="en-DE" sz="1200">
                <a:latin typeface="72 Brand" panose="020B0504030603020204" pitchFamily="34" charset="0"/>
              </a:rPr>
              <a:t>Configure SAP AI Core orchestration service</a:t>
            </a:r>
          </a:p>
          <a:p>
            <a:pPr marL="715838" lvl="1" indent="-171450">
              <a:buClr>
                <a:srgbClr val="FFC000"/>
              </a:buClr>
              <a:buSzPct val="80000"/>
              <a:buFont typeface="Wingdings" panose="05000000000000000000" pitchFamily="2" charset="2"/>
              <a:buChar char="§"/>
            </a:pPr>
            <a:endParaRPr lang="en-DE" sz="1200">
              <a:latin typeface="72 Brand" panose="020B0504030603020204" pitchFamily="34" charset="0"/>
            </a:endParaRPr>
          </a:p>
          <a:p>
            <a:pPr marL="171450" indent="-171450">
              <a:buClr>
                <a:srgbClr val="FFC000"/>
              </a:buClr>
              <a:buSzPct val="80000"/>
              <a:buFont typeface="Wingdings" panose="05000000000000000000" pitchFamily="2" charset="2"/>
              <a:buChar char="§"/>
            </a:pPr>
            <a:r>
              <a:rPr lang="en-DE" sz="1200">
                <a:latin typeface="72 Brand" panose="020B0504030603020204" pitchFamily="34" charset="0"/>
              </a:rPr>
              <a:t>Implementing </a:t>
            </a:r>
            <a:r>
              <a:rPr lang="en-DE" sz="1200" err="1">
                <a:latin typeface="72 Brand" panose="020B0504030603020204" pitchFamily="34" charset="0"/>
              </a:rPr>
              <a:t>MLflow</a:t>
            </a:r>
            <a:r>
              <a:rPr lang="en-DE" sz="1200">
                <a:latin typeface="72 Brand" panose="020B0504030603020204" pitchFamily="34" charset="0"/>
              </a:rPr>
              <a:t> model class for model tracking and logging</a:t>
            </a:r>
            <a:endParaRPr lang="en-GB" sz="1200">
              <a:latin typeface="72 Brand" panose="020B0504030603020204" pitchFamily="34" charset="0"/>
            </a:endParaRPr>
          </a:p>
        </p:txBody>
      </p:sp>
      <p:cxnSp>
        <p:nvCxnSpPr>
          <p:cNvPr id="55" name="Gewinkelte Verbindung 26">
            <a:extLst>
              <a:ext uri="{FF2B5EF4-FFF2-40B4-BE49-F238E27FC236}">
                <a16:creationId xmlns:a16="http://schemas.microsoft.com/office/drawing/2014/main" id="{BAE1EC41-7545-309F-593E-97BAF8F2F9F5}"/>
              </a:ext>
            </a:extLst>
          </p:cNvPr>
          <p:cNvCxnSpPr>
            <a:cxnSpLocks/>
            <a:stCxn id="131" idx="0"/>
            <a:endCxn id="105" idx="2"/>
          </p:cNvCxnSpPr>
          <p:nvPr/>
        </p:nvCxnSpPr>
        <p:spPr>
          <a:xfrm rot="5400000" flipH="1" flipV="1">
            <a:off x="7224708" y="4542865"/>
            <a:ext cx="690153" cy="278010"/>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6" name="Abgerundetes Rechteck 18">
            <a:extLst>
              <a:ext uri="{FF2B5EF4-FFF2-40B4-BE49-F238E27FC236}">
                <a16:creationId xmlns:a16="http://schemas.microsoft.com/office/drawing/2014/main" id="{4E911E2E-08A7-C3C7-6F6E-13A830D32D66}"/>
              </a:ext>
            </a:extLst>
          </p:cNvPr>
          <p:cNvSpPr/>
          <p:nvPr/>
        </p:nvSpPr>
        <p:spPr bwMode="gray">
          <a:xfrm>
            <a:off x="6755087" y="4290668"/>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5</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57" name="Abgerundetes Rechteck 18">
            <a:extLst>
              <a:ext uri="{FF2B5EF4-FFF2-40B4-BE49-F238E27FC236}">
                <a16:creationId xmlns:a16="http://schemas.microsoft.com/office/drawing/2014/main" id="{3D1DDA46-6B37-A913-096A-9A54C5BD34FA}"/>
              </a:ext>
            </a:extLst>
          </p:cNvPr>
          <p:cNvSpPr/>
          <p:nvPr/>
        </p:nvSpPr>
        <p:spPr bwMode="gray">
          <a:xfrm>
            <a:off x="7751425" y="4478072"/>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6</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58" name="Rectangle: Rounded Corners 91">
            <a:extLst>
              <a:ext uri="{FF2B5EF4-FFF2-40B4-BE49-F238E27FC236}">
                <a16:creationId xmlns:a16="http://schemas.microsoft.com/office/drawing/2014/main" id="{DA75F303-1CB7-52A7-E434-34E4F1AF222C}"/>
              </a:ext>
            </a:extLst>
          </p:cNvPr>
          <p:cNvSpPr/>
          <p:nvPr/>
        </p:nvSpPr>
        <p:spPr bwMode="gray">
          <a:xfrm>
            <a:off x="5363276" y="4526026"/>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Share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59" name="Rectangle: Rounded Corners 91">
            <a:extLst>
              <a:ext uri="{FF2B5EF4-FFF2-40B4-BE49-F238E27FC236}">
                <a16:creationId xmlns:a16="http://schemas.microsoft.com/office/drawing/2014/main" id="{E2222B2E-05EF-8D49-B952-AF0D089BF339}"/>
              </a:ext>
            </a:extLst>
          </p:cNvPr>
          <p:cNvSpPr/>
          <p:nvPr/>
        </p:nvSpPr>
        <p:spPr bwMode="gray">
          <a:xfrm>
            <a:off x="6115792" y="4337405"/>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Share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60" name="Rectangle: Rounded Corners 91">
            <a:extLst>
              <a:ext uri="{FF2B5EF4-FFF2-40B4-BE49-F238E27FC236}">
                <a16:creationId xmlns:a16="http://schemas.microsoft.com/office/drawing/2014/main" id="{E2427795-432B-8DAF-8F62-A1024DFB00F8}"/>
              </a:ext>
            </a:extLst>
          </p:cNvPr>
          <p:cNvSpPr/>
          <p:nvPr/>
        </p:nvSpPr>
        <p:spPr bwMode="gray">
          <a:xfrm>
            <a:off x="7067898" y="4620203"/>
            <a:ext cx="594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Install</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61" name="TextBox 60">
            <a:extLst>
              <a:ext uri="{FF2B5EF4-FFF2-40B4-BE49-F238E27FC236}">
                <a16:creationId xmlns:a16="http://schemas.microsoft.com/office/drawing/2014/main" id="{31C12B26-A68C-6143-1400-A58700A3DBD8}"/>
              </a:ext>
            </a:extLst>
          </p:cNvPr>
          <p:cNvSpPr txBox="1"/>
          <p:nvPr/>
        </p:nvSpPr>
        <p:spPr>
          <a:xfrm>
            <a:off x="427523" y="2985869"/>
            <a:ext cx="3225529" cy="2862322"/>
          </a:xfrm>
          <a:prstGeom prst="rect">
            <a:avLst/>
          </a:prstGeom>
          <a:noFill/>
        </p:spPr>
        <p:txBody>
          <a:bodyPr wrap="square" lIns="0" tIns="0" rIns="0" bIns="0" rtlCol="0">
            <a:spAutoFit/>
          </a:bodyPr>
          <a:lstStyle/>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Activate SAP Data Product </a:t>
            </a:r>
            <a:r>
              <a:rPr lang="en-DE" sz="1200" i="1" kern="0">
                <a:latin typeface="72 Brand" panose="020B0504030603020204" pitchFamily="34" charset="0"/>
                <a:ea typeface="72 Brand" pitchFamily="34" charset="-128"/>
                <a:cs typeface="72 Brand" pitchFamily="34" charset="-128"/>
              </a:rPr>
              <a:t>Workforce Core Data </a:t>
            </a:r>
            <a:r>
              <a:rPr lang="en-DE" sz="1200" kern="0">
                <a:latin typeface="72 Brand" panose="020B0504030603020204" pitchFamily="34" charset="0"/>
                <a:ea typeface="72 Brand" pitchFamily="34" charset="-128"/>
                <a:cs typeface="72 Brand" pitchFamily="34" charset="-128"/>
              </a:rPr>
              <a:t>into SAP Foundation Service and make  it available in SAP BDC Cockpit  </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Share Data Product </a:t>
            </a:r>
            <a:r>
              <a:rPr lang="en-DE" sz="1200" i="1" kern="0">
                <a:latin typeface="72 Brand" panose="020B0504030603020204" pitchFamily="34" charset="0"/>
                <a:ea typeface="72 Brand" pitchFamily="34" charset="-128"/>
                <a:cs typeface="72 Brand" pitchFamily="34" charset="-128"/>
              </a:rPr>
              <a:t>Entry View Journal Entry </a:t>
            </a:r>
            <a:r>
              <a:rPr lang="en-DE" sz="1200" kern="0">
                <a:latin typeface="72 Brand" panose="020B0504030603020204" pitchFamily="34" charset="0"/>
                <a:ea typeface="72 Brand" pitchFamily="34" charset="-128"/>
                <a:cs typeface="72 Brand" pitchFamily="34" charset="-128"/>
              </a:rPr>
              <a:t>to SAP Databricks</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Integrate AI Foundation LLM services</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Predict payment delays + key drivers and use LLM service to explain the results in human readable text format</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Share enriched data product to BDC Cockpit</a:t>
            </a:r>
          </a:p>
          <a:p>
            <a:pPr marL="228600" indent="-228600" algn="l" fontAlgn="base">
              <a:spcBef>
                <a:spcPct val="50000"/>
              </a:spcBef>
              <a:spcAft>
                <a:spcPct val="0"/>
              </a:spcAft>
              <a:buClr>
                <a:schemeClr val="tx1"/>
              </a:buClr>
              <a:buSzPct val="100000"/>
              <a:buAutoNum type="arabicPeriod"/>
            </a:pPr>
            <a:r>
              <a:rPr lang="en-DE" sz="1200" kern="0">
                <a:latin typeface="72 Brand" panose="020B0504030603020204" pitchFamily="34" charset="0"/>
                <a:ea typeface="72 Brand" pitchFamily="34" charset="-128"/>
                <a:cs typeface="72 Brand" pitchFamily="34" charset="-128"/>
              </a:rPr>
              <a:t>Install data product to SAP Datasphere and consume in SAP Analytics Cloud</a:t>
            </a:r>
            <a:endParaRPr lang="LID4096" sz="1200" kern="0">
              <a:latin typeface="72 Brand" panose="020B0504030603020204" pitchFamily="34" charset="0"/>
              <a:ea typeface="72 Brand" pitchFamily="34" charset="-128"/>
              <a:cs typeface="72 Brand" pitchFamily="34" charset="-128"/>
            </a:endParaRPr>
          </a:p>
        </p:txBody>
      </p:sp>
      <p:sp>
        <p:nvSpPr>
          <p:cNvPr id="70" name="Abgerundetes Rechteck 18">
            <a:extLst>
              <a:ext uri="{FF2B5EF4-FFF2-40B4-BE49-F238E27FC236}">
                <a16:creationId xmlns:a16="http://schemas.microsoft.com/office/drawing/2014/main" id="{0F87BB69-1B01-89C2-DD0E-FB845BBCBCB2}"/>
              </a:ext>
            </a:extLst>
          </p:cNvPr>
          <p:cNvSpPr/>
          <p:nvPr/>
        </p:nvSpPr>
        <p:spPr bwMode="gray">
          <a:xfrm>
            <a:off x="3860903" y="3371515"/>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3</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78" name="Rounded Rectangle 23">
            <a:extLst>
              <a:ext uri="{FF2B5EF4-FFF2-40B4-BE49-F238E27FC236}">
                <a16:creationId xmlns:a16="http://schemas.microsoft.com/office/drawing/2014/main" id="{7FF3BAFF-840E-FDA6-03EB-188311BBE233}"/>
              </a:ext>
            </a:extLst>
          </p:cNvPr>
          <p:cNvSpPr/>
          <p:nvPr/>
        </p:nvSpPr>
        <p:spPr bwMode="gray">
          <a:xfrm>
            <a:off x="3763175" y="2692764"/>
            <a:ext cx="1160935" cy="1749531"/>
          </a:xfrm>
          <a:prstGeom prst="roundRect">
            <a:avLst>
              <a:gd name="adj" fmla="val 2972"/>
            </a:avLst>
          </a:prstGeom>
          <a:solidFill>
            <a:schemeClr val="bg1"/>
          </a:solidFill>
          <a:ln>
            <a:solidFill>
              <a:srgbClr val="89D1FF"/>
            </a:solid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884" tIns="35991" rIns="89884" bIns="35954" numCol="1" spcCol="0" rtlCol="0" fromWordArt="0" anchor="t" anchorCtr="0" forceAA="0" compatLnSpc="1">
            <a:prstTxWarp prst="textNoShape">
              <a:avLst/>
            </a:prstTxWarp>
            <a:noAutofit/>
          </a:bodyPr>
          <a:lstStyle/>
          <a:p>
            <a:pPr lvl="0" defTabSz="1088449">
              <a:defRPr/>
            </a:pPr>
            <a:r>
              <a:rPr lang="en-DE" sz="1100">
                <a:solidFill>
                  <a:srgbClr val="000000"/>
                </a:solidFill>
                <a:latin typeface="72 Brand Medium"/>
              </a:rPr>
              <a:t>AI Foundation</a:t>
            </a:r>
            <a:endParaRPr lang="en-US" sz="1100">
              <a:solidFill>
                <a:srgbClr val="000000"/>
              </a:solidFill>
              <a:latin typeface="72 Brand Medium"/>
            </a:endParaRPr>
          </a:p>
        </p:txBody>
      </p:sp>
      <p:sp>
        <p:nvSpPr>
          <p:cNvPr id="79" name="Rectangle: Rounded Corners 39">
            <a:extLst>
              <a:ext uri="{FF2B5EF4-FFF2-40B4-BE49-F238E27FC236}">
                <a16:creationId xmlns:a16="http://schemas.microsoft.com/office/drawing/2014/main" id="{18591122-14A4-E267-950A-319A9B99EF68}"/>
              </a:ext>
            </a:extLst>
          </p:cNvPr>
          <p:cNvSpPr/>
          <p:nvPr/>
        </p:nvSpPr>
        <p:spPr bwMode="auto">
          <a:xfrm>
            <a:off x="3860597" y="2984302"/>
            <a:ext cx="996805" cy="1359681"/>
          </a:xfrm>
          <a:prstGeom prst="roundRect">
            <a:avLst>
              <a:gd name="adj" fmla="val 3723"/>
            </a:avLst>
          </a:prstGeom>
          <a:solidFill>
            <a:srgbClr val="D1E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36000" tIns="54000" rIns="90000" bIns="90000" numCol="1" spcCol="0" rtlCol="0" fromWordArt="0" anchor="t" anchorCtr="0" forceAA="0" compatLnSpc="1">
            <a:prstTxWarp prst="textNoShape">
              <a:avLst/>
            </a:prstTxWarp>
            <a:noAutofit/>
          </a:bodyPr>
          <a:lstStyle/>
          <a:p>
            <a:pPr marL="0" marR="0" lvl="0" indent="0" algn="l" defTabSz="913304" rtl="0" eaLnBrk="0" fontAlgn="base" latinLnBrk="0" hangingPunct="0">
              <a:lnSpc>
                <a:spcPct val="100000"/>
              </a:lnSpc>
              <a:spcBef>
                <a:spcPct val="0"/>
              </a:spcBef>
              <a:spcAft>
                <a:spcPct val="0"/>
              </a:spcAft>
              <a:buClrTx/>
              <a:buSzTx/>
              <a:buFontTx/>
              <a:buNone/>
              <a:tabLst/>
              <a:defRPr/>
            </a:pPr>
            <a:r>
              <a:rPr kumimoji="0" lang="en-DE" sz="10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API/Services</a:t>
            </a:r>
            <a:endParaRPr kumimoji="0" lang="en-US" sz="1000" b="0" i="0" u="none" strike="noStrike" kern="1200" cap="none" spc="0" normalizeH="0" baseline="0" noProof="0">
              <a:ln>
                <a:noFill/>
              </a:ln>
              <a:solidFill>
                <a:srgbClr val="002A86"/>
              </a:solidFill>
              <a:effectLst/>
              <a:uLnTx/>
              <a:uFillTx/>
              <a:latin typeface="72 Brand"/>
              <a:ea typeface="+mn-ea"/>
              <a:cs typeface="72" panose="020B0503030000000003" pitchFamily="34" charset="0"/>
            </a:endParaRPr>
          </a:p>
        </p:txBody>
      </p:sp>
      <p:sp>
        <p:nvSpPr>
          <p:cNvPr id="80" name="Rectangle: Rounded Corners 39">
            <a:extLst>
              <a:ext uri="{FF2B5EF4-FFF2-40B4-BE49-F238E27FC236}">
                <a16:creationId xmlns:a16="http://schemas.microsoft.com/office/drawing/2014/main" id="{648D95B9-B8A3-CE85-A7AF-25E5704C2AE9}"/>
              </a:ext>
            </a:extLst>
          </p:cNvPr>
          <p:cNvSpPr/>
          <p:nvPr/>
        </p:nvSpPr>
        <p:spPr bwMode="auto">
          <a:xfrm>
            <a:off x="3953961" y="3319371"/>
            <a:ext cx="809838" cy="252000"/>
          </a:xfrm>
          <a:prstGeom prst="roundRect">
            <a:avLst>
              <a:gd name="adj" fmla="val 10479"/>
            </a:avLst>
          </a:prstGeom>
          <a:solidFill>
            <a:schemeClr val="bg2"/>
          </a:solidFill>
          <a:ln w="9525">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800" b="0" i="0" u="none" strike="noStrike" kern="1200" cap="none" spc="0" normalizeH="0" baseline="0" noProof="0">
                <a:ln>
                  <a:noFill/>
                </a:ln>
                <a:solidFill>
                  <a:srgbClr val="00144A"/>
                </a:solidFill>
                <a:effectLst/>
                <a:uLnTx/>
                <a:uFillTx/>
                <a:latin typeface="72 Brand"/>
                <a:ea typeface="+mn-ea"/>
                <a:cs typeface="72" panose="020B0503030000000003" pitchFamily="34" charset="0"/>
              </a:rPr>
              <a:t>LLM Access</a:t>
            </a:r>
            <a:endParaRPr kumimoji="0" lang="en-US" sz="800" b="0" i="0" u="none" strike="noStrike" kern="1200" cap="none" spc="0" normalizeH="0" baseline="0" noProof="0">
              <a:ln>
                <a:noFill/>
              </a:ln>
              <a:solidFill>
                <a:srgbClr val="00144A"/>
              </a:solidFill>
              <a:effectLst/>
              <a:uLnTx/>
              <a:uFillTx/>
              <a:latin typeface="72 Brand"/>
              <a:ea typeface="+mn-ea"/>
              <a:cs typeface="72" panose="020B0503030000000003" pitchFamily="34" charset="0"/>
            </a:endParaRPr>
          </a:p>
        </p:txBody>
      </p:sp>
      <p:cxnSp>
        <p:nvCxnSpPr>
          <p:cNvPr id="69" name="Gewinkelte Verbindung 26">
            <a:extLst>
              <a:ext uri="{FF2B5EF4-FFF2-40B4-BE49-F238E27FC236}">
                <a16:creationId xmlns:a16="http://schemas.microsoft.com/office/drawing/2014/main" id="{C0CDF00B-CC35-4C43-DE78-D3957FBB096C}"/>
              </a:ext>
            </a:extLst>
          </p:cNvPr>
          <p:cNvCxnSpPr>
            <a:cxnSpLocks/>
            <a:stCxn id="80" idx="3"/>
          </p:cNvCxnSpPr>
          <p:nvPr/>
        </p:nvCxnSpPr>
        <p:spPr>
          <a:xfrm flipV="1">
            <a:off x="4763799" y="3072013"/>
            <a:ext cx="1101190" cy="373358"/>
          </a:xfrm>
          <a:prstGeom prst="bentConnector3">
            <a:avLst>
              <a:gd name="adj1" fmla="val 19438"/>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Abgerundetes Rechteck 18">
            <a:extLst>
              <a:ext uri="{FF2B5EF4-FFF2-40B4-BE49-F238E27FC236}">
                <a16:creationId xmlns:a16="http://schemas.microsoft.com/office/drawing/2014/main" id="{E6596D99-530E-2D93-F7A0-B18885804309}"/>
              </a:ext>
            </a:extLst>
          </p:cNvPr>
          <p:cNvSpPr/>
          <p:nvPr/>
        </p:nvSpPr>
        <p:spPr bwMode="gray">
          <a:xfrm>
            <a:off x="5077096" y="4476456"/>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2</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92" name="Abgerundetes Rechteck 18">
            <a:extLst>
              <a:ext uri="{FF2B5EF4-FFF2-40B4-BE49-F238E27FC236}">
                <a16:creationId xmlns:a16="http://schemas.microsoft.com/office/drawing/2014/main" id="{16F79143-F7A3-AF9E-781C-FA4C8BBCC8C1}"/>
              </a:ext>
            </a:extLst>
          </p:cNvPr>
          <p:cNvSpPr/>
          <p:nvPr/>
        </p:nvSpPr>
        <p:spPr bwMode="gray">
          <a:xfrm>
            <a:off x="4620899" y="3486015"/>
            <a:ext cx="252000" cy="252000"/>
          </a:xfrm>
          <a:prstGeom prst="roundRect">
            <a:avLst>
              <a:gd name="adj" fmla="val 21080"/>
            </a:avLst>
          </a:prstGeom>
          <a:solidFill>
            <a:schemeClr val="tx1"/>
          </a:solidFill>
          <a:ln w="25400" algn="ctr">
            <a:noFill/>
            <a:prstDash val="sysDot"/>
            <a:miter lim="800000"/>
            <a:headEnd/>
            <a:tailEnd/>
          </a:ln>
          <a:effectLst/>
        </p:spPr>
        <p:txBody>
          <a:bodyPr lIns="90000" tIns="72000" rIns="90000" bIns="72000" rtlCol="0" anchor="ctr" anchorCtr="0"/>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1200" b="0" i="0" u="none" strike="noStrike" kern="1200" cap="none" spc="0" normalizeH="0" baseline="0" noProof="0">
                <a:ln>
                  <a:noFill/>
                </a:ln>
                <a:solidFill>
                  <a:srgbClr val="FFFFFF"/>
                </a:solidFill>
                <a:effectLst/>
                <a:uLnTx/>
                <a:uFillTx/>
                <a:latin typeface="72 Brand Medium"/>
                <a:ea typeface="+mn-ea"/>
                <a:cs typeface="+mn-cs"/>
              </a:rPr>
              <a:t>3</a:t>
            </a:r>
            <a:endParaRPr kumimoji="0" lang="en-US" sz="1200" b="0" i="0" u="none" strike="noStrike" kern="1200" cap="none" spc="0" normalizeH="0" baseline="0" noProof="0">
              <a:ln>
                <a:noFill/>
              </a:ln>
              <a:solidFill>
                <a:srgbClr val="FFFFFF"/>
              </a:solidFill>
              <a:effectLst/>
              <a:uLnTx/>
              <a:uFillTx/>
              <a:latin typeface="72 Brand Medium"/>
              <a:ea typeface="+mn-ea"/>
              <a:cs typeface="+mn-cs"/>
            </a:endParaRPr>
          </a:p>
        </p:txBody>
      </p:sp>
      <p:sp>
        <p:nvSpPr>
          <p:cNvPr id="101" name="Rectangle: Rounded Corners 39">
            <a:extLst>
              <a:ext uri="{FF2B5EF4-FFF2-40B4-BE49-F238E27FC236}">
                <a16:creationId xmlns:a16="http://schemas.microsoft.com/office/drawing/2014/main" id="{AF9B4E5B-8B09-AB98-B49E-263558F0C153}"/>
              </a:ext>
            </a:extLst>
          </p:cNvPr>
          <p:cNvSpPr/>
          <p:nvPr/>
        </p:nvSpPr>
        <p:spPr bwMode="auto">
          <a:xfrm>
            <a:off x="7417170" y="3083217"/>
            <a:ext cx="1082052" cy="257437"/>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Story</a:t>
            </a:r>
          </a:p>
        </p:txBody>
      </p:sp>
      <p:pic>
        <p:nvPicPr>
          <p:cNvPr id="102" name="Graphic 101">
            <a:extLst>
              <a:ext uri="{FF2B5EF4-FFF2-40B4-BE49-F238E27FC236}">
                <a16:creationId xmlns:a16="http://schemas.microsoft.com/office/drawing/2014/main" id="{FCE81757-2ADB-99ED-9906-580398EEE64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493447" y="3156458"/>
            <a:ext cx="115258" cy="122942"/>
          </a:xfrm>
          <a:prstGeom prst="rect">
            <a:avLst/>
          </a:prstGeom>
          <a:effectLst/>
        </p:spPr>
      </p:pic>
      <p:grpSp>
        <p:nvGrpSpPr>
          <p:cNvPr id="104" name="Group 103">
            <a:extLst>
              <a:ext uri="{FF2B5EF4-FFF2-40B4-BE49-F238E27FC236}">
                <a16:creationId xmlns:a16="http://schemas.microsoft.com/office/drawing/2014/main" id="{D7294FE0-73A4-839F-DB96-503FF721F8EB}"/>
              </a:ext>
            </a:extLst>
          </p:cNvPr>
          <p:cNvGrpSpPr/>
          <p:nvPr/>
        </p:nvGrpSpPr>
        <p:grpSpPr>
          <a:xfrm>
            <a:off x="7168789" y="4084793"/>
            <a:ext cx="1080000" cy="252000"/>
            <a:chOff x="7162674" y="3881337"/>
            <a:chExt cx="1080000" cy="252000"/>
          </a:xfrm>
          <a:effectLst>
            <a:outerShdw blurRad="50800" dist="38100" dir="8100000" algn="tr" rotWithShape="0">
              <a:prstClr val="black">
                <a:alpha val="40000"/>
              </a:prstClr>
            </a:outerShdw>
          </a:effectLst>
        </p:grpSpPr>
        <p:sp>
          <p:nvSpPr>
            <p:cNvPr id="105" name="Rectangle: Rounded Corners 39">
              <a:extLst>
                <a:ext uri="{FF2B5EF4-FFF2-40B4-BE49-F238E27FC236}">
                  <a16:creationId xmlns:a16="http://schemas.microsoft.com/office/drawing/2014/main" id="{2CDDB007-AC96-3939-B054-716E392F14C6}"/>
                </a:ext>
              </a:extLst>
            </p:cNvPr>
            <p:cNvSpPr/>
            <p:nvPr/>
          </p:nvSpPr>
          <p:spPr bwMode="auto">
            <a:xfrm>
              <a:off x="7162674" y="3881337"/>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DE" sz="800">
                  <a:solidFill>
                    <a:srgbClr val="00144A"/>
                  </a:solidFill>
                  <a:latin typeface="72 Brand"/>
                </a:rPr>
                <a:t>Remote Table</a:t>
              </a:r>
              <a:endParaRPr lang="en-US" sz="800">
                <a:solidFill>
                  <a:srgbClr val="00144A"/>
                </a:solidFill>
                <a:latin typeface="72 Brand"/>
              </a:endParaRPr>
            </a:p>
          </p:txBody>
        </p:sp>
        <p:pic>
          <p:nvPicPr>
            <p:cNvPr id="106" name="Graphic 105">
              <a:extLst>
                <a:ext uri="{FF2B5EF4-FFF2-40B4-BE49-F238E27FC236}">
                  <a16:creationId xmlns:a16="http://schemas.microsoft.com/office/drawing/2014/main" id="{6D7FC383-1751-E8DD-D317-EA583ED2222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237426" y="3944337"/>
              <a:ext cx="126000" cy="126000"/>
            </a:xfrm>
            <a:prstGeom prst="rect">
              <a:avLst/>
            </a:prstGeom>
          </p:spPr>
        </p:pic>
      </p:grpSp>
      <p:grpSp>
        <p:nvGrpSpPr>
          <p:cNvPr id="107" name="Group 106">
            <a:extLst>
              <a:ext uri="{FF2B5EF4-FFF2-40B4-BE49-F238E27FC236}">
                <a16:creationId xmlns:a16="http://schemas.microsoft.com/office/drawing/2014/main" id="{07F95643-0DA2-5658-B355-FE0F1CE41E33}"/>
              </a:ext>
            </a:extLst>
          </p:cNvPr>
          <p:cNvGrpSpPr/>
          <p:nvPr/>
        </p:nvGrpSpPr>
        <p:grpSpPr>
          <a:xfrm>
            <a:off x="7298289" y="3920946"/>
            <a:ext cx="1080000" cy="252000"/>
            <a:chOff x="7162674" y="3881337"/>
            <a:chExt cx="1080000" cy="252000"/>
          </a:xfrm>
          <a:effectLst>
            <a:outerShdw blurRad="50800" dist="38100" dir="8100000" algn="tr" rotWithShape="0">
              <a:prstClr val="black">
                <a:alpha val="40000"/>
              </a:prstClr>
            </a:outerShdw>
          </a:effectLst>
        </p:grpSpPr>
        <p:sp>
          <p:nvSpPr>
            <p:cNvPr id="108" name="Rectangle: Rounded Corners 39">
              <a:extLst>
                <a:ext uri="{FF2B5EF4-FFF2-40B4-BE49-F238E27FC236}">
                  <a16:creationId xmlns:a16="http://schemas.microsoft.com/office/drawing/2014/main" id="{7007EC1D-2624-2C1F-BD66-C943066CDE94}"/>
                </a:ext>
              </a:extLst>
            </p:cNvPr>
            <p:cNvSpPr/>
            <p:nvPr/>
          </p:nvSpPr>
          <p:spPr bwMode="auto">
            <a:xfrm>
              <a:off x="7162674" y="3881337"/>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Views</a:t>
              </a:r>
            </a:p>
          </p:txBody>
        </p:sp>
        <p:pic>
          <p:nvPicPr>
            <p:cNvPr id="109" name="Graphic 108">
              <a:extLst>
                <a:ext uri="{FF2B5EF4-FFF2-40B4-BE49-F238E27FC236}">
                  <a16:creationId xmlns:a16="http://schemas.microsoft.com/office/drawing/2014/main" id="{C3192960-F80E-14A7-C5A6-E07BAA21913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237426" y="3944337"/>
              <a:ext cx="126000" cy="126000"/>
            </a:xfrm>
            <a:prstGeom prst="rect">
              <a:avLst/>
            </a:prstGeom>
          </p:spPr>
        </p:pic>
      </p:grpSp>
      <p:grpSp>
        <p:nvGrpSpPr>
          <p:cNvPr id="110" name="Group 109">
            <a:extLst>
              <a:ext uri="{FF2B5EF4-FFF2-40B4-BE49-F238E27FC236}">
                <a16:creationId xmlns:a16="http://schemas.microsoft.com/office/drawing/2014/main" id="{2AA66FAE-BE40-092D-D37D-19B35A080475}"/>
              </a:ext>
            </a:extLst>
          </p:cNvPr>
          <p:cNvGrpSpPr/>
          <p:nvPr/>
        </p:nvGrpSpPr>
        <p:grpSpPr>
          <a:xfrm>
            <a:off x="7436041" y="3770096"/>
            <a:ext cx="1080000" cy="252000"/>
            <a:chOff x="7300426" y="4027269"/>
            <a:chExt cx="1080000" cy="252000"/>
          </a:xfrm>
          <a:effectLst>
            <a:outerShdw blurRad="50800" dist="38100" dir="8100000" algn="tr" rotWithShape="0">
              <a:prstClr val="black">
                <a:alpha val="40000"/>
              </a:prstClr>
            </a:outerShdw>
          </a:effectLst>
        </p:grpSpPr>
        <p:sp>
          <p:nvSpPr>
            <p:cNvPr id="111" name="Rectangle: Rounded Corners 39">
              <a:extLst>
                <a:ext uri="{FF2B5EF4-FFF2-40B4-BE49-F238E27FC236}">
                  <a16:creationId xmlns:a16="http://schemas.microsoft.com/office/drawing/2014/main" id="{66554349-C22F-6324-0478-A848E28D8675}"/>
                </a:ext>
              </a:extLst>
            </p:cNvPr>
            <p:cNvSpPr/>
            <p:nvPr/>
          </p:nvSpPr>
          <p:spPr bwMode="auto">
            <a:xfrm>
              <a:off x="7300426" y="4027269"/>
              <a:ext cx="1080000" cy="252000"/>
            </a:xfrm>
            <a:prstGeom prst="roundRect">
              <a:avLst>
                <a:gd name="adj" fmla="val 10479"/>
              </a:avLst>
            </a:prstGeom>
            <a:solidFill>
              <a:schemeClr val="bg2"/>
            </a:solidFill>
            <a:ln w="9525">
              <a:noFill/>
              <a:prstDash val="dash"/>
              <a:headEnd type="none" w="med" len="med"/>
              <a:tailEnd type="non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52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144A"/>
                  </a:solidFill>
                  <a:latin typeface="72 Brand"/>
                </a:rPr>
                <a:t>Analytic models</a:t>
              </a:r>
            </a:p>
          </p:txBody>
        </p:sp>
        <p:pic>
          <p:nvPicPr>
            <p:cNvPr id="112" name="Graphic 111">
              <a:extLst>
                <a:ext uri="{FF2B5EF4-FFF2-40B4-BE49-F238E27FC236}">
                  <a16:creationId xmlns:a16="http://schemas.microsoft.com/office/drawing/2014/main" id="{FD3FAC21-8BE6-9C23-CC39-F536627955C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383053" y="4090269"/>
              <a:ext cx="110250" cy="126000"/>
            </a:xfrm>
            <a:prstGeom prst="rect">
              <a:avLst/>
            </a:prstGeom>
            <a:effectLst>
              <a:outerShdw blurRad="50800" dist="38100" dir="5400000" algn="t" rotWithShape="0">
                <a:prstClr val="black">
                  <a:alpha val="40000"/>
                </a:prstClr>
              </a:outerShdw>
            </a:effectLst>
          </p:spPr>
        </p:pic>
      </p:grpSp>
      <p:cxnSp>
        <p:nvCxnSpPr>
          <p:cNvPr id="114" name="Gewinkelte Verbindung 26">
            <a:extLst>
              <a:ext uri="{FF2B5EF4-FFF2-40B4-BE49-F238E27FC236}">
                <a16:creationId xmlns:a16="http://schemas.microsoft.com/office/drawing/2014/main" id="{C7361E88-15BB-B27F-C633-57267318CA93}"/>
              </a:ext>
            </a:extLst>
          </p:cNvPr>
          <p:cNvCxnSpPr>
            <a:cxnSpLocks/>
            <a:stCxn id="111" idx="0"/>
            <a:endCxn id="101" idx="2"/>
          </p:cNvCxnSpPr>
          <p:nvPr/>
        </p:nvCxnSpPr>
        <p:spPr>
          <a:xfrm rot="16200000" flipV="1">
            <a:off x="7752398" y="3546452"/>
            <a:ext cx="429442" cy="17845"/>
          </a:xfrm>
          <a:prstGeom prst="bentConnector3">
            <a:avLst>
              <a:gd name="adj1" fmla="val 50000"/>
            </a:avLst>
          </a:prstGeom>
          <a:ln w="12700">
            <a:solidFill>
              <a:schemeClr val="tx1">
                <a:lumMod val="50000"/>
                <a:lumOff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3" name="Rectangle: Rounded Corners 91">
            <a:extLst>
              <a:ext uri="{FF2B5EF4-FFF2-40B4-BE49-F238E27FC236}">
                <a16:creationId xmlns:a16="http://schemas.microsoft.com/office/drawing/2014/main" id="{607D30E7-FA0B-C4AA-B7D3-E0638E49DEDE}"/>
              </a:ext>
            </a:extLst>
          </p:cNvPr>
          <p:cNvSpPr/>
          <p:nvPr/>
        </p:nvSpPr>
        <p:spPr bwMode="gray">
          <a:xfrm>
            <a:off x="8025916" y="3261939"/>
            <a:ext cx="540000" cy="144000"/>
          </a:xfrm>
          <a:prstGeom prst="roundRect">
            <a:avLst>
              <a:gd name="adj" fmla="val 50000"/>
            </a:avLst>
          </a:prstGeom>
          <a:solidFill>
            <a:srgbClr val="002A86"/>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0000" tIns="90000" rIns="90000" bIns="90000" numCol="1" spcCol="0" rtlCol="0" fromWordArt="0" anchor="ctr" anchorCtr="0" forceAA="0" compatLnSpc="1">
            <a:prstTxWarp prst="textNoShape">
              <a:avLst/>
            </a:prstTxWarp>
            <a:noAutofit/>
          </a:bodyPr>
          <a:lstStyle/>
          <a:p>
            <a:pPr marL="0" marR="0" lvl="0" indent="0" algn="ctr" defTabSz="913578" rtl="0" eaLnBrk="0" fontAlgn="base" latinLnBrk="0" hangingPunct="0">
              <a:lnSpc>
                <a:spcPct val="100000"/>
              </a:lnSpc>
              <a:spcBef>
                <a:spcPct val="0"/>
              </a:spcBef>
              <a:spcAft>
                <a:spcPct val="0"/>
              </a:spcAft>
              <a:buClrTx/>
              <a:buSzTx/>
              <a:buFontTx/>
              <a:buNone/>
              <a:tabLst/>
              <a:defRPr/>
            </a:pPr>
            <a:r>
              <a:rPr kumimoji="0" lang="en-DE"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rPr>
              <a:t>consume</a:t>
            </a:r>
            <a:endParaRPr kumimoji="0" lang="en-US" sz="700" b="0" i="0" u="none" strike="noStrike" kern="1200" cap="none" spc="0" normalizeH="0" baseline="0" noProof="0">
              <a:ln>
                <a:noFill/>
              </a:ln>
              <a:solidFill>
                <a:srgbClr val="FFFFFF"/>
              </a:solidFill>
              <a:effectLst/>
              <a:uLnTx/>
              <a:uFillTx/>
              <a:latin typeface="72 Brand Medium"/>
              <a:ea typeface="+mn-ea"/>
              <a:cs typeface="72" panose="020B0503030000000003" pitchFamily="34" charset="0"/>
            </a:endParaRPr>
          </a:p>
        </p:txBody>
      </p:sp>
      <p:sp>
        <p:nvSpPr>
          <p:cNvPr id="127" name="Rectangle: Rounded Corners 39">
            <a:extLst>
              <a:ext uri="{FF2B5EF4-FFF2-40B4-BE49-F238E27FC236}">
                <a16:creationId xmlns:a16="http://schemas.microsoft.com/office/drawing/2014/main" id="{38C16046-D70F-7F6A-1EAA-AE5E355B1DBC}"/>
              </a:ext>
            </a:extLst>
          </p:cNvPr>
          <p:cNvSpPr/>
          <p:nvPr/>
        </p:nvSpPr>
        <p:spPr bwMode="auto">
          <a:xfrm>
            <a:off x="5252830" y="5117290"/>
            <a:ext cx="1064221"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0000" tIns="90000" rIns="90000" bIns="90000" numCol="1" spcCol="0" rtlCol="0" fromWordArt="0" anchor="ctr" anchorCtr="0" forceAA="0" compatLnSpc="1">
            <a:prstTxWarp prst="textNoShape">
              <a:avLst/>
            </a:prstTxWarp>
            <a:noAutofit/>
          </a:bodyPr>
          <a:lstStyle/>
          <a:p>
            <a:pPr defTabSz="913578" eaLnBrk="0" fontAlgn="base" hangingPunct="0">
              <a:spcBef>
                <a:spcPct val="0"/>
              </a:spcBef>
              <a:spcAft>
                <a:spcPct val="0"/>
              </a:spcAft>
            </a:pPr>
            <a:r>
              <a:rPr lang="en-US" sz="800">
                <a:solidFill>
                  <a:srgbClr val="002A86"/>
                </a:solidFill>
                <a:latin typeface="72 Brand"/>
              </a:rPr>
              <a:t>SAP Data product</a:t>
            </a:r>
          </a:p>
        </p:txBody>
      </p:sp>
      <p:grpSp>
        <p:nvGrpSpPr>
          <p:cNvPr id="129" name="Group 128">
            <a:extLst>
              <a:ext uri="{FF2B5EF4-FFF2-40B4-BE49-F238E27FC236}">
                <a16:creationId xmlns:a16="http://schemas.microsoft.com/office/drawing/2014/main" id="{20794BBA-3B22-D86F-23E9-2F71676A0175}"/>
              </a:ext>
            </a:extLst>
          </p:cNvPr>
          <p:cNvGrpSpPr/>
          <p:nvPr/>
        </p:nvGrpSpPr>
        <p:grpSpPr>
          <a:xfrm>
            <a:off x="6903363" y="5026946"/>
            <a:ext cx="1054832" cy="252000"/>
            <a:chOff x="6788294" y="1746824"/>
            <a:chExt cx="1300291" cy="252000"/>
          </a:xfrm>
        </p:grpSpPr>
        <p:pic>
          <p:nvPicPr>
            <p:cNvPr id="130" name="Graphic 129">
              <a:extLst>
                <a:ext uri="{FF2B5EF4-FFF2-40B4-BE49-F238E27FC236}">
                  <a16:creationId xmlns:a16="http://schemas.microsoft.com/office/drawing/2014/main" id="{9C77A046-B1E4-C8D0-BAB6-0F0BCE6C3BB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02501" y="1809824"/>
              <a:ext cx="126000" cy="126000"/>
            </a:xfrm>
            <a:prstGeom prst="rect">
              <a:avLst/>
            </a:prstGeom>
          </p:spPr>
        </p:pic>
        <p:sp>
          <p:nvSpPr>
            <p:cNvPr id="131" name="Rectangle: Rounded Corners 39">
              <a:extLst>
                <a:ext uri="{FF2B5EF4-FFF2-40B4-BE49-F238E27FC236}">
                  <a16:creationId xmlns:a16="http://schemas.microsoft.com/office/drawing/2014/main" id="{689D280C-10C9-FA8D-4430-E1BD0B7AD187}"/>
                </a:ext>
              </a:extLst>
            </p:cNvPr>
            <p:cNvSpPr/>
            <p:nvPr/>
          </p:nvSpPr>
          <p:spPr bwMode="auto">
            <a:xfrm>
              <a:off x="6788294" y="1746824"/>
              <a:ext cx="1300291" cy="252000"/>
            </a:xfrm>
            <a:prstGeom prst="roundRect">
              <a:avLst>
                <a:gd name="adj" fmla="val 10479"/>
              </a:avLst>
            </a:prstGeom>
            <a:solidFill>
              <a:schemeClr val="bg1"/>
            </a:solidFill>
            <a:ln w="12700" cap="rnd">
              <a:solidFill>
                <a:srgbClr val="002A86"/>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0000" tIns="90000" rIns="90000" bIns="90000" numCol="1" spcCol="0" rtlCol="0" fromWordArt="0" anchor="ctr" anchorCtr="0" forceAA="0" compatLnSpc="1">
              <a:prstTxWarp prst="textNoShape">
                <a:avLst/>
              </a:prstTxWarp>
              <a:noAutofit/>
            </a:bodyPr>
            <a:lstStyle/>
            <a:p>
              <a:pPr marL="0" marR="0" lvl="0" indent="0" algn="l" defTabSz="913578" rtl="0" eaLnBrk="0" fontAlgn="base" latinLnBrk="0" hangingPunct="0">
                <a:lnSpc>
                  <a:spcPct val="100000"/>
                </a:lnSpc>
                <a:spcBef>
                  <a:spcPct val="0"/>
                </a:spcBef>
                <a:spcAft>
                  <a:spcPct val="0"/>
                </a:spcAft>
                <a:buClrTx/>
                <a:buSzTx/>
                <a:buFontTx/>
                <a:buNone/>
                <a:tabLst/>
                <a:defRPr/>
              </a:pPr>
              <a:r>
                <a:rPr kumimoji="0" lang="en-DE"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SAP </a:t>
              </a:r>
              <a:r>
                <a:rPr kumimoji="0" lang="en-US" sz="800" b="0" i="0" u="none" strike="noStrike" kern="1200" cap="none" spc="0" normalizeH="0" baseline="0" noProof="0">
                  <a:ln>
                    <a:noFill/>
                  </a:ln>
                  <a:solidFill>
                    <a:srgbClr val="002A86"/>
                  </a:solidFill>
                  <a:effectLst/>
                  <a:uLnTx/>
                  <a:uFillTx/>
                  <a:latin typeface="72 Brand"/>
                  <a:ea typeface="+mn-ea"/>
                  <a:cs typeface="72" panose="020B0503030000000003" pitchFamily="34" charset="0"/>
                </a:rPr>
                <a:t>Data product</a:t>
              </a:r>
            </a:p>
          </p:txBody>
        </p:sp>
      </p:grpSp>
      <p:pic>
        <p:nvPicPr>
          <p:cNvPr id="132" name="Graphic 131">
            <a:extLst>
              <a:ext uri="{FF2B5EF4-FFF2-40B4-BE49-F238E27FC236}">
                <a16:creationId xmlns:a16="http://schemas.microsoft.com/office/drawing/2014/main" id="{7CDB9473-4557-B9EA-0CD3-19EF7F736A9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935927" y="5091257"/>
            <a:ext cx="126000" cy="126000"/>
          </a:xfrm>
          <a:prstGeom prst="rect">
            <a:avLst/>
          </a:prstGeom>
        </p:spPr>
      </p:pic>
      <p:pic>
        <p:nvPicPr>
          <p:cNvPr id="44" name="Graphic 43">
            <a:extLst>
              <a:ext uri="{FF2B5EF4-FFF2-40B4-BE49-F238E27FC236}">
                <a16:creationId xmlns:a16="http://schemas.microsoft.com/office/drawing/2014/main" id="{60A85E28-EE1A-FC5E-82BC-3DF19A05788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047954" y="3711019"/>
            <a:ext cx="126000" cy="126000"/>
          </a:xfrm>
          <a:prstGeom prst="rect">
            <a:avLst/>
          </a:prstGeom>
          <a:effectLst/>
        </p:spPr>
      </p:pic>
      <p:pic>
        <p:nvPicPr>
          <p:cNvPr id="137" name="Graphic 136">
            <a:extLst>
              <a:ext uri="{FF2B5EF4-FFF2-40B4-BE49-F238E27FC236}">
                <a16:creationId xmlns:a16="http://schemas.microsoft.com/office/drawing/2014/main" id="{E41F7A09-1A99-F734-D030-6CBA7DEEB9B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298537" y="5180290"/>
            <a:ext cx="123127" cy="126000"/>
          </a:xfrm>
          <a:prstGeom prst="rect">
            <a:avLst/>
          </a:prstGeom>
        </p:spPr>
      </p:pic>
      <p:sp>
        <p:nvSpPr>
          <p:cNvPr id="26" name="TextBox 25">
            <a:extLst>
              <a:ext uri="{FF2B5EF4-FFF2-40B4-BE49-F238E27FC236}">
                <a16:creationId xmlns:a16="http://schemas.microsoft.com/office/drawing/2014/main" id="{22AB8DF2-0B39-42F2-3636-229C6BE5B123}"/>
              </a:ext>
            </a:extLst>
          </p:cNvPr>
          <p:cNvSpPr txBox="1"/>
          <p:nvPr/>
        </p:nvSpPr>
        <p:spPr>
          <a:xfrm>
            <a:off x="439230" y="6577212"/>
            <a:ext cx="5221046" cy="138499"/>
          </a:xfrm>
          <a:prstGeom prst="rect">
            <a:avLst/>
          </a:prstGeom>
          <a:noFill/>
        </p:spPr>
        <p:txBody>
          <a:bodyPr wrap="square" lIns="0" tIns="0" rIns="0" bIns="0" rtlCol="0">
            <a:spAutoFit/>
          </a:bodyPr>
          <a:lstStyle/>
          <a:p>
            <a:pPr fontAlgn="base">
              <a:spcBef>
                <a:spcPct val="50000"/>
              </a:spcBef>
              <a:spcAft>
                <a:spcPct val="0"/>
              </a:spcAft>
              <a:buClr>
                <a:schemeClr val="tx1"/>
              </a:buClr>
              <a:buSzPct val="100000"/>
            </a:pPr>
            <a:r>
              <a:rPr lang="en-GB" sz="900" kern="0">
                <a:latin typeface="72 Brand" panose="020B0504030603020204" pitchFamily="34" charset="0"/>
                <a:ea typeface="Arial Unicode MS" pitchFamily="34" charset="-128"/>
                <a:cs typeface="Arial Unicode MS" pitchFamily="34" charset="-128"/>
              </a:rPr>
              <a:t>S</a:t>
            </a:r>
            <a:r>
              <a:rPr lang="en-DE" sz="900" kern="0">
                <a:latin typeface="72 Brand" panose="020B0504030603020204" pitchFamily="34" charset="0"/>
                <a:ea typeface="Arial Unicode MS" pitchFamily="34" charset="-128"/>
                <a:cs typeface="Arial Unicode MS" pitchFamily="34" charset="-128"/>
              </a:rPr>
              <a:t>ee blog post: </a:t>
            </a:r>
            <a:r>
              <a:rPr lang="en-US" sz="900">
                <a:hlinkClick r:id="rId9"/>
              </a:rPr>
              <a:t>Unlocking SAP AI Foundation capabilities in SAP Databricks</a:t>
            </a:r>
            <a:endParaRPr lang="LID4096" sz="900" kern="0" err="1">
              <a:latin typeface="72 Brand" panose="020B0504030603020204" pitchFamily="34" charset="0"/>
              <a:ea typeface="Arial Unicode MS" pitchFamily="34" charset="-128"/>
              <a:cs typeface="Arial Unicode MS" pitchFamily="34" charset="-128"/>
            </a:endParaRPr>
          </a:p>
        </p:txBody>
      </p:sp>
      <p:sp>
        <p:nvSpPr>
          <p:cNvPr id="10" name="Title 1">
            <a:extLst>
              <a:ext uri="{FF2B5EF4-FFF2-40B4-BE49-F238E27FC236}">
                <a16:creationId xmlns:a16="http://schemas.microsoft.com/office/drawing/2014/main" id="{9DFF0DF5-EBA5-17B6-FB5D-D8F76B1784AD}"/>
              </a:ext>
            </a:extLst>
          </p:cNvPr>
          <p:cNvSpPr txBox="1">
            <a:spLocks/>
          </p:cNvSpPr>
          <p:nvPr/>
        </p:nvSpPr>
        <p:spPr bwMode="black">
          <a:xfrm>
            <a:off x="504001" y="280406"/>
            <a:ext cx="11186476" cy="369332"/>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r>
              <a:rPr lang="en-DE">
                <a:solidFill>
                  <a:srgbClr val="2CE0BF"/>
                </a:solidFill>
              </a:rPr>
              <a:t>Use Case </a:t>
            </a:r>
            <a:r>
              <a:rPr lang="en-US">
                <a:solidFill>
                  <a:srgbClr val="2CE0BF"/>
                </a:solidFill>
              </a:rPr>
              <a:t>0</a:t>
            </a:r>
            <a:r>
              <a:rPr lang="en-DE">
                <a:solidFill>
                  <a:srgbClr val="2CE0BF"/>
                </a:solidFill>
              </a:rPr>
              <a:t>2: </a:t>
            </a:r>
            <a:r>
              <a:rPr lang="en-DE"/>
              <a:t>Payment Delay Prediction and Key Drivers</a:t>
            </a:r>
            <a:endParaRPr lang="en-US"/>
          </a:p>
        </p:txBody>
      </p:sp>
    </p:spTree>
    <p:extLst>
      <p:ext uri="{BB962C8B-B14F-4D97-AF65-F5344CB8AC3E}">
        <p14:creationId xmlns:p14="http://schemas.microsoft.com/office/powerpoint/2010/main" val="2055568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9AEA4CD-C565-4E2C-8CB9-859C78F20035}"/>
              </a:ext>
            </a:extLst>
          </p:cNvPr>
          <p:cNvSpPr txBox="1"/>
          <p:nvPr/>
        </p:nvSpPr>
        <p:spPr>
          <a:xfrm>
            <a:off x="573087" y="1244909"/>
            <a:ext cx="5436687" cy="5293757"/>
          </a:xfrm>
          <a:prstGeom prst="rect">
            <a:avLst/>
          </a:prstGeom>
          <a:noFill/>
        </p:spPr>
        <p:txBody>
          <a:bodyPr wrap="square" lIns="91440" tIns="45720" rIns="91440" bIns="45720" anchor="t">
            <a:spAutoFit/>
          </a:bodyPr>
          <a:lstStyle/>
          <a:p>
            <a:r>
              <a:rPr lang="en-US" sz="1400" b="1">
                <a:latin typeface="+mn-lt"/>
                <a:cs typeface="72" panose="020B0503030000000003" pitchFamily="34" charset="0"/>
              </a:rPr>
              <a:t>Requirements</a:t>
            </a:r>
            <a:r>
              <a:rPr lang="en-US" sz="1800">
                <a:latin typeface="+mn-lt"/>
                <a:cs typeface="72" panose="020B0503030000000003" pitchFamily="34" charset="0"/>
              </a:rPr>
              <a:t> </a:t>
            </a:r>
          </a:p>
          <a:p>
            <a:pPr marL="285750" indent="-285750">
              <a:spcBef>
                <a:spcPts val="1200"/>
              </a:spcBef>
              <a:buSzPct val="70000"/>
              <a:buFont typeface="Wingdings" panose="05000000000000000000" pitchFamily="2" charset="2"/>
              <a:buChar char="q"/>
            </a:pPr>
            <a:r>
              <a:rPr lang="en-US" sz="1400">
                <a:latin typeface="+mn-lt"/>
                <a:cs typeface="72" panose="020B0503030000000003" pitchFamily="34" charset="0"/>
              </a:rPr>
              <a:t>Access to the GitHub Repository for the script &amp; files: </a:t>
            </a:r>
            <a:br>
              <a:rPr lang="en-US" sz="1400">
                <a:latin typeface="+mn-lt"/>
                <a:cs typeface="72" panose="020B0503030000000003" pitchFamily="34" charset="0"/>
              </a:rPr>
            </a:br>
            <a:r>
              <a:rPr lang="en-US" sz="1400" u="sng">
                <a:solidFill>
                  <a:srgbClr val="0563C1"/>
                </a:solidFill>
                <a:latin typeface="+mn-lt"/>
                <a:ea typeface="Aptos" panose="020B0004020202020204" pitchFamily="34" charset="0"/>
                <a:cs typeface="Aptos" panose="020B0004020202020204" pitchFamily="34" charset="0"/>
                <a:hlinkClick r:id="rId3"/>
              </a:rPr>
              <a:t>https://github.com/SAP-samples/teched2025-DA266</a:t>
            </a:r>
            <a:r>
              <a:rPr lang="en-US" sz="1400">
                <a:latin typeface="+mn-lt"/>
                <a:ea typeface="Aptos" panose="020B0004020202020204" pitchFamily="34" charset="0"/>
                <a:cs typeface="Aptos" panose="020B0004020202020204" pitchFamily="34" charset="0"/>
              </a:rPr>
              <a:t> </a:t>
            </a:r>
            <a:endParaRPr lang="en-US" sz="1400">
              <a:highlight>
                <a:srgbClr val="FFFF00"/>
              </a:highlight>
              <a:latin typeface="+mn-lt"/>
              <a:cs typeface="72" panose="020B0503030000000003" pitchFamily="34" charset="0"/>
            </a:endParaRPr>
          </a:p>
          <a:p>
            <a:pPr marL="285750" indent="-285750">
              <a:spcBef>
                <a:spcPts val="1200"/>
              </a:spcBef>
              <a:buSzPct val="70000"/>
              <a:buFont typeface="Wingdings" panose="05000000000000000000" pitchFamily="2" charset="2"/>
              <a:buChar char="q"/>
            </a:pPr>
            <a:r>
              <a:rPr lang="en-US" sz="1400">
                <a:latin typeface="+mn-lt"/>
                <a:cs typeface="72" panose="020B0503030000000003" pitchFamily="34" charset="0"/>
              </a:rPr>
              <a:t>Access to SAP </a:t>
            </a:r>
            <a:r>
              <a:rPr lang="en-DE" sz="1400">
                <a:latin typeface="+mn-lt"/>
                <a:cs typeface="72" panose="020B0503030000000003" pitchFamily="34" charset="0"/>
              </a:rPr>
              <a:t>Databricks</a:t>
            </a:r>
            <a:r>
              <a:rPr lang="en-US" sz="1400">
                <a:latin typeface="+mn-lt"/>
                <a:cs typeface="72" panose="020B0503030000000003" pitchFamily="34" charset="0"/>
              </a:rPr>
              <a:t> and SAP </a:t>
            </a:r>
            <a:r>
              <a:rPr lang="en-DE" sz="1400">
                <a:latin typeface="+mn-lt"/>
                <a:cs typeface="72" panose="020B0503030000000003" pitchFamily="34" charset="0"/>
              </a:rPr>
              <a:t>Business Data Cloud Cockpit</a:t>
            </a:r>
          </a:p>
          <a:p>
            <a:pPr marL="285750" indent="-285750">
              <a:spcBef>
                <a:spcPts val="1200"/>
              </a:spcBef>
              <a:buSzPct val="70000"/>
              <a:buFont typeface="Wingdings" panose="05000000000000000000" pitchFamily="2" charset="2"/>
              <a:buChar char="q"/>
            </a:pPr>
            <a:r>
              <a:rPr lang="en-DE" sz="1400">
                <a:latin typeface="+mn-lt"/>
                <a:cs typeface="72" panose="020B0503030000000003" pitchFamily="34" charset="0"/>
              </a:rPr>
              <a:t>System users will be provided to the participants</a:t>
            </a:r>
          </a:p>
          <a:p>
            <a:pPr marL="285750" indent="-285750">
              <a:spcBef>
                <a:spcPts val="1200"/>
              </a:spcBef>
              <a:buSzPct val="70000"/>
              <a:buFont typeface="Wingdings" panose="05000000000000000000" pitchFamily="2" charset="2"/>
              <a:buChar char="q"/>
            </a:pPr>
            <a:r>
              <a:rPr lang="en-DE" sz="1400">
                <a:latin typeface="+mn-lt"/>
                <a:cs typeface="72" panose="020B0503030000000003" pitchFamily="34" charset="0"/>
              </a:rPr>
              <a:t>Databricks Pre-Setup:</a:t>
            </a:r>
          </a:p>
          <a:p>
            <a:pPr marL="829945" lvl="1" indent="-285750">
              <a:spcBef>
                <a:spcPts val="1200"/>
              </a:spcBef>
              <a:buSzPct val="70000"/>
              <a:buFont typeface="Wingdings" panose="05000000000000000000" pitchFamily="2" charset="2"/>
              <a:buChar char="q"/>
            </a:pPr>
            <a:r>
              <a:rPr lang="en-DE" sz="1400">
                <a:cs typeface="72"/>
              </a:rPr>
              <a:t>Unity Catalog</a:t>
            </a:r>
          </a:p>
          <a:p>
            <a:pPr marL="1374140" lvl="2" indent="-285750">
              <a:spcBef>
                <a:spcPts val="1200"/>
              </a:spcBef>
              <a:buSzPct val="70000"/>
              <a:buFont typeface="Wingdings" panose="05000000000000000000" pitchFamily="2" charset="2"/>
              <a:buChar char="q"/>
            </a:pPr>
            <a:r>
              <a:rPr lang="en-DE" sz="1100" err="1">
                <a:latin typeface="Cascadia Code" panose="020B0609020000020004" pitchFamily="49" charset="0"/>
                <a:ea typeface="Cascadia Code" panose="020B0609020000020004" pitchFamily="49" charset="0"/>
                <a:cs typeface="Cascadia Code" panose="020B0609020000020004" pitchFamily="49" charset="0"/>
              </a:rPr>
              <a:t>uc_cash_liquidity_forecast</a:t>
            </a:r>
            <a:endParaRPr lang="en-DE" sz="1100">
              <a:latin typeface="Cascadia Code" panose="020B0609020000020004" pitchFamily="49" charset="0"/>
              <a:ea typeface="Cascadia Code" panose="020B0609020000020004" pitchFamily="49" charset="0"/>
              <a:cs typeface="Cascadia Code" panose="020B0609020000020004" pitchFamily="49" charset="0"/>
            </a:endParaRPr>
          </a:p>
          <a:p>
            <a:pPr marL="1374140" lvl="2" indent="-285750">
              <a:spcBef>
                <a:spcPts val="1200"/>
              </a:spcBef>
              <a:buSzPct val="70000"/>
              <a:buFont typeface="Wingdings" panose="05000000000000000000" pitchFamily="2" charset="2"/>
              <a:buChar char="q"/>
            </a:pPr>
            <a:r>
              <a:rPr lang="en-DE" sz="1100" err="1">
                <a:latin typeface="Cascadia Code" panose="020B0609020000020004" pitchFamily="49" charset="0"/>
                <a:ea typeface="Cascadia Code" panose="020B0609020000020004" pitchFamily="49" charset="0"/>
                <a:cs typeface="Cascadia Code" panose="020B0609020000020004" pitchFamily="49" charset="0"/>
              </a:rPr>
              <a:t>uc_delayed_payment</a:t>
            </a:r>
            <a:endParaRPr lang="en-DE" sz="1100">
              <a:latin typeface="Cascadia Code" panose="020B0609020000020004" pitchFamily="49" charset="0"/>
              <a:ea typeface="Cascadia Code" panose="020B0609020000020004" pitchFamily="49" charset="0"/>
              <a:cs typeface="Cascadia Code" panose="020B0609020000020004" pitchFamily="49" charset="0"/>
            </a:endParaRPr>
          </a:p>
          <a:p>
            <a:pPr marL="829945" lvl="1" indent="-285750">
              <a:spcBef>
                <a:spcPts val="1200"/>
              </a:spcBef>
              <a:buSzPct val="70000"/>
              <a:buFont typeface="Wingdings" panose="05000000000000000000" pitchFamily="2" charset="2"/>
              <a:buChar char="q"/>
            </a:pPr>
            <a:r>
              <a:rPr lang="en-DE" sz="1400">
                <a:cs typeface="72"/>
              </a:rPr>
              <a:t>Received Delta Shares and Data Products</a:t>
            </a:r>
            <a:endParaRPr lang="en-DE" sz="1400">
              <a:cs typeface="72" panose="020B0503030000000003" pitchFamily="34" charset="0"/>
            </a:endParaRPr>
          </a:p>
          <a:p>
            <a:pPr marL="1374140" lvl="2" indent="-285750">
              <a:spcBef>
                <a:spcPts val="1200"/>
              </a:spcBef>
              <a:buSzPct val="70000"/>
              <a:buFont typeface="Wingdings" panose="05000000000000000000" pitchFamily="2" charset="2"/>
              <a:buChar char="q"/>
            </a:pPr>
            <a:r>
              <a:rPr lang="en-DE" sz="1100">
                <a:latin typeface="Cascadia Code" panose="020B0609020000020004" pitchFamily="49" charset="0"/>
                <a:ea typeface="Cascadia Code" panose="020B0609020000020004" pitchFamily="49" charset="0"/>
                <a:cs typeface="Cascadia Code" panose="020B0609020000020004" pitchFamily="49" charset="0"/>
              </a:rPr>
              <a:t>Cash Flow</a:t>
            </a:r>
          </a:p>
          <a:p>
            <a:pPr marL="1374140" lvl="2" indent="-285750">
              <a:spcBef>
                <a:spcPts val="1200"/>
              </a:spcBef>
              <a:buSzPct val="70000"/>
              <a:buFont typeface="Wingdings" panose="05000000000000000000" pitchFamily="2" charset="2"/>
              <a:buChar char="q"/>
            </a:pPr>
            <a:r>
              <a:rPr lang="en-DE" sz="1100">
                <a:latin typeface="Cascadia Code" panose="020B0609020000020004" pitchFamily="49" charset="0"/>
                <a:ea typeface="Cascadia Code" panose="020B0609020000020004" pitchFamily="49" charset="0"/>
                <a:cs typeface="Cascadia Code" panose="020B0609020000020004" pitchFamily="49" charset="0"/>
              </a:rPr>
              <a:t>Entry View Journal</a:t>
            </a:r>
          </a:p>
          <a:p>
            <a:pPr marL="829945" lvl="1" indent="-285750">
              <a:spcBef>
                <a:spcPts val="1200"/>
              </a:spcBef>
              <a:buSzPct val="70000"/>
              <a:buFont typeface="Wingdings" panose="05000000000000000000" pitchFamily="2" charset="2"/>
              <a:buChar char="q"/>
            </a:pPr>
            <a:r>
              <a:rPr lang="en-DE" sz="1400">
                <a:cs typeface="72" panose="020B0503030000000003" pitchFamily="34" charset="0"/>
              </a:rPr>
              <a:t>SECRET scopes</a:t>
            </a:r>
          </a:p>
          <a:p>
            <a:pPr marL="1374140" lvl="2" indent="-285750">
              <a:spcBef>
                <a:spcPts val="1200"/>
              </a:spcBef>
              <a:buSzPct val="70000"/>
              <a:buFont typeface="Wingdings" panose="05000000000000000000" pitchFamily="2" charset="2"/>
              <a:buChar char="q"/>
            </a:pPr>
            <a:r>
              <a:rPr lang="en-DE" sz="1000">
                <a:cs typeface="72" panose="020B0503030000000003" pitchFamily="34" charset="0"/>
              </a:rPr>
              <a:t>sap-</a:t>
            </a:r>
            <a:r>
              <a:rPr lang="en-DE" sz="1000" err="1">
                <a:cs typeface="72" panose="020B0503030000000003" pitchFamily="34" charset="0"/>
              </a:rPr>
              <a:t>bdc</a:t>
            </a:r>
            <a:r>
              <a:rPr lang="en-DE" sz="1000">
                <a:cs typeface="72" panose="020B0503030000000003" pitchFamily="34" charset="0"/>
              </a:rPr>
              <a:t>-connect-</a:t>
            </a:r>
            <a:r>
              <a:rPr lang="en-DE" sz="1000" err="1">
                <a:cs typeface="72" panose="020B0503030000000003" pitchFamily="34" charset="0"/>
              </a:rPr>
              <a:t>sdk</a:t>
            </a:r>
            <a:r>
              <a:rPr lang="en-DE" sz="1000">
                <a:cs typeface="72" panose="020B0503030000000003" pitchFamily="34" charset="0"/>
              </a:rPr>
              <a:t> for Data Product sharing</a:t>
            </a:r>
          </a:p>
          <a:p>
            <a:pPr marL="1374140" lvl="2" indent="-285750">
              <a:spcBef>
                <a:spcPts val="1200"/>
              </a:spcBef>
              <a:buSzPct val="70000"/>
              <a:buFont typeface="Wingdings" panose="05000000000000000000" pitchFamily="2" charset="2"/>
              <a:buChar char="q"/>
            </a:pPr>
            <a:r>
              <a:rPr lang="en-DE" sz="1000">
                <a:cs typeface="72" panose="020B0503030000000003" pitchFamily="34" charset="0"/>
              </a:rPr>
              <a:t>AI Core Service for GenAI Hub LLM service</a:t>
            </a:r>
            <a:endParaRPr lang="en-DE" sz="1600">
              <a:latin typeface="+mn-lt"/>
              <a:ea typeface="72 Brand"/>
              <a:cs typeface="72" panose="020B0503030000000003" pitchFamily="34" charset="0"/>
            </a:endParaRPr>
          </a:p>
        </p:txBody>
      </p:sp>
      <p:sp>
        <p:nvSpPr>
          <p:cNvPr id="6" name="Title 1">
            <a:extLst>
              <a:ext uri="{FF2B5EF4-FFF2-40B4-BE49-F238E27FC236}">
                <a16:creationId xmlns:a16="http://schemas.microsoft.com/office/drawing/2014/main" id="{F6898656-7984-BB80-EAF7-0D54347E1349}"/>
              </a:ext>
            </a:extLst>
          </p:cNvPr>
          <p:cNvSpPr>
            <a:spLocks noGrp="1"/>
          </p:cNvSpPr>
          <p:nvPr>
            <p:ph type="title"/>
          </p:nvPr>
        </p:nvSpPr>
        <p:spPr/>
        <p:txBody>
          <a:bodyPr/>
          <a:lstStyle/>
          <a:p>
            <a:r>
              <a:rPr lang="en-US">
                <a:solidFill>
                  <a:srgbClr val="2CE0BF"/>
                </a:solidFill>
              </a:rPr>
              <a:t>02</a:t>
            </a:r>
            <a:r>
              <a:rPr lang="en-US">
                <a:solidFill>
                  <a:schemeClr val="accent2"/>
                </a:solidFill>
              </a:rPr>
              <a:t> </a:t>
            </a:r>
            <a:r>
              <a:rPr lang="en-US"/>
              <a:t>What are the requirements and where to find the materials?</a:t>
            </a:r>
          </a:p>
        </p:txBody>
      </p:sp>
      <p:pic>
        <p:nvPicPr>
          <p:cNvPr id="14" name="Picture 13">
            <a:extLst>
              <a:ext uri="{FF2B5EF4-FFF2-40B4-BE49-F238E27FC236}">
                <a16:creationId xmlns:a16="http://schemas.microsoft.com/office/drawing/2014/main" id="{EE354B08-24F4-8D11-B0D6-EEE9613ADFC5}"/>
              </a:ext>
            </a:extLst>
          </p:cNvPr>
          <p:cNvPicPr>
            <a:picLocks noChangeAspect="1"/>
          </p:cNvPicPr>
          <p:nvPr/>
        </p:nvPicPr>
        <p:blipFill>
          <a:blip r:embed="rId4"/>
          <a:stretch>
            <a:fillRect/>
          </a:stretch>
        </p:blipFill>
        <p:spPr>
          <a:xfrm>
            <a:off x="5597697" y="1477853"/>
            <a:ext cx="8067391" cy="5392339"/>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424006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F591-B8DA-1936-D6E4-A5CA98A83402}"/>
              </a:ext>
            </a:extLst>
          </p:cNvPr>
          <p:cNvSpPr>
            <a:spLocks noGrp="1"/>
          </p:cNvSpPr>
          <p:nvPr>
            <p:ph type="title"/>
          </p:nvPr>
        </p:nvSpPr>
        <p:spPr/>
        <p:txBody>
          <a:bodyPr/>
          <a:lstStyle/>
          <a:p>
            <a:r>
              <a:rPr lang="en-DE"/>
              <a:t>Setting the python environment for the exercises</a:t>
            </a:r>
            <a:endParaRPr lang="LID4096"/>
          </a:p>
        </p:txBody>
      </p:sp>
      <p:pic>
        <p:nvPicPr>
          <p:cNvPr id="4" name="Picture 3">
            <a:extLst>
              <a:ext uri="{FF2B5EF4-FFF2-40B4-BE49-F238E27FC236}">
                <a16:creationId xmlns:a16="http://schemas.microsoft.com/office/drawing/2014/main" id="{C7E458D7-1268-AF7B-1760-8FA0B381B38E}"/>
              </a:ext>
            </a:extLst>
          </p:cNvPr>
          <p:cNvPicPr>
            <a:picLocks noChangeAspect="1"/>
          </p:cNvPicPr>
          <p:nvPr/>
        </p:nvPicPr>
        <p:blipFill>
          <a:blip r:embed="rId2"/>
          <a:stretch>
            <a:fillRect/>
          </a:stretch>
        </p:blipFill>
        <p:spPr>
          <a:xfrm>
            <a:off x="2914767" y="1794810"/>
            <a:ext cx="7583823" cy="4559190"/>
          </a:xfrm>
          <a:prstGeom prst="rect">
            <a:avLst/>
          </a:prstGeom>
        </p:spPr>
      </p:pic>
      <p:sp>
        <p:nvSpPr>
          <p:cNvPr id="5" name="TextBox 4">
            <a:extLst>
              <a:ext uri="{FF2B5EF4-FFF2-40B4-BE49-F238E27FC236}">
                <a16:creationId xmlns:a16="http://schemas.microsoft.com/office/drawing/2014/main" id="{8E125898-AE52-641D-AA43-B3BCC0755C3E}"/>
              </a:ext>
            </a:extLst>
          </p:cNvPr>
          <p:cNvSpPr txBox="1"/>
          <p:nvPr/>
        </p:nvSpPr>
        <p:spPr>
          <a:xfrm>
            <a:off x="1960268" y="1275838"/>
            <a:ext cx="4211932" cy="276999"/>
          </a:xfrm>
          <a:prstGeom prst="rect">
            <a:avLst/>
          </a:prstGeom>
          <a:noFill/>
        </p:spPr>
        <p:txBody>
          <a:bodyPr wrap="square" lIns="0" tIns="0" rIns="0" bIns="0" rtlCol="0">
            <a:spAutoFit/>
          </a:bodyPr>
          <a:lstStyle/>
          <a:p>
            <a:pPr fontAlgn="base">
              <a:spcBef>
                <a:spcPct val="50000"/>
              </a:spcBef>
              <a:spcAft>
                <a:spcPct val="0"/>
              </a:spcAft>
              <a:buClr>
                <a:schemeClr val="tx1"/>
              </a:buClr>
              <a:buSzPct val="100000"/>
            </a:pPr>
            <a:r>
              <a:rPr lang="en-DE" sz="1800" kern="0">
                <a:latin typeface="72 Brand" panose="020B0504030603020204" pitchFamily="34" charset="0"/>
                <a:ea typeface="72 Brand" pitchFamily="34" charset="-128"/>
                <a:cs typeface="72 Brand" pitchFamily="34" charset="-128"/>
              </a:rPr>
              <a:t>Environment = Python 3.12, Scala 2.12</a:t>
            </a:r>
            <a:endParaRPr lang="LID4096" sz="1800" kern="0" err="1">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05969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9B6820-DA1B-DFD7-33F5-59B1BCA0D3E7}"/>
              </a:ext>
            </a:extLst>
          </p:cNvPr>
          <p:cNvSpPr>
            <a:spLocks noGrp="1"/>
          </p:cNvSpPr>
          <p:nvPr>
            <p:ph type="title"/>
          </p:nvPr>
        </p:nvSpPr>
        <p:spPr>
          <a:xfrm>
            <a:off x="504001" y="504000"/>
            <a:ext cx="11186476" cy="369332"/>
          </a:xfrm>
        </p:spPr>
        <p:txBody>
          <a:bodyPr/>
          <a:lstStyle/>
          <a:p>
            <a:r>
              <a:rPr lang="de-DE"/>
              <a:t>How to upload the notebook </a:t>
            </a:r>
            <a:endParaRPr lang="LID4096"/>
          </a:p>
        </p:txBody>
      </p:sp>
      <p:pic>
        <p:nvPicPr>
          <p:cNvPr id="5" name="Picture 4">
            <a:extLst>
              <a:ext uri="{FF2B5EF4-FFF2-40B4-BE49-F238E27FC236}">
                <a16:creationId xmlns:a16="http://schemas.microsoft.com/office/drawing/2014/main" id="{687DA77A-7CDC-07C4-0645-E5EA22899A4E}"/>
              </a:ext>
            </a:extLst>
          </p:cNvPr>
          <p:cNvPicPr>
            <a:picLocks noChangeAspect="1"/>
          </p:cNvPicPr>
          <p:nvPr/>
        </p:nvPicPr>
        <p:blipFill>
          <a:blip r:embed="rId2"/>
          <a:stretch>
            <a:fillRect/>
          </a:stretch>
        </p:blipFill>
        <p:spPr>
          <a:xfrm>
            <a:off x="1925276" y="1485731"/>
            <a:ext cx="8344623" cy="3886537"/>
          </a:xfrm>
          <a:prstGeom prst="rect">
            <a:avLst/>
          </a:prstGeom>
        </p:spPr>
      </p:pic>
    </p:spTree>
    <p:extLst>
      <p:ext uri="{BB962C8B-B14F-4D97-AF65-F5344CB8AC3E}">
        <p14:creationId xmlns:p14="http://schemas.microsoft.com/office/powerpoint/2010/main" val="2523346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3A8F0-FDCA-1315-F635-0B6A8073F4B8}"/>
            </a:ext>
          </a:extLst>
        </p:cNvPr>
        <p:cNvGrpSpPr/>
        <p:nvPr/>
      </p:nvGrpSpPr>
      <p:grpSpPr>
        <a:xfrm>
          <a:off x="0" y="0"/>
          <a:ext cx="0" cy="0"/>
          <a:chOff x="0" y="0"/>
          <a:chExt cx="0" cy="0"/>
        </a:xfrm>
      </p:grpSpPr>
      <p:pic>
        <p:nvPicPr>
          <p:cNvPr id="4" name="Grafik 22" descr="Ein Bild, das Screenshot, Farbigkeit, Grafiken, Design enthält.&#10;&#10;KI-generierte Inhalte können fehlerhaft sein.">
            <a:extLst>
              <a:ext uri="{FF2B5EF4-FFF2-40B4-BE49-F238E27FC236}">
                <a16:creationId xmlns:a16="http://schemas.microsoft.com/office/drawing/2014/main" id="{176804F9-0273-CDE4-E590-4CAB72E57581}"/>
              </a:ext>
            </a:extLst>
          </p:cNvPr>
          <p:cNvPicPr>
            <a:picLocks noChangeAspect="1"/>
          </p:cNvPicPr>
          <p:nvPr/>
        </p:nvPicPr>
        <p:blipFill>
          <a:blip r:embed="rId2"/>
          <a:srcRect l="50232"/>
          <a:stretch>
            <a:fillRect/>
          </a:stretch>
        </p:blipFill>
        <p:spPr>
          <a:xfrm>
            <a:off x="0" y="-685863"/>
            <a:ext cx="3016719" cy="8007542"/>
          </a:xfrm>
          <a:prstGeom prst="rect">
            <a:avLst/>
          </a:prstGeom>
        </p:spPr>
      </p:pic>
      <p:sp>
        <p:nvSpPr>
          <p:cNvPr id="6" name="Textplatzhalter 1">
            <a:extLst>
              <a:ext uri="{FF2B5EF4-FFF2-40B4-BE49-F238E27FC236}">
                <a16:creationId xmlns:a16="http://schemas.microsoft.com/office/drawing/2014/main" id="{056F7F18-9A50-51D9-3F56-7103624AEAE3}"/>
              </a:ext>
            </a:extLst>
          </p:cNvPr>
          <p:cNvSpPr txBox="1">
            <a:spLocks/>
          </p:cNvSpPr>
          <p:nvPr/>
        </p:nvSpPr>
        <p:spPr>
          <a:xfrm>
            <a:off x="2636520" y="1687135"/>
            <a:ext cx="5260571" cy="3477875"/>
          </a:xfrm>
          <a:prstGeom prst="rect">
            <a:avLst/>
          </a:prstGeom>
        </p:spPr>
        <p:txBody>
          <a:bodyPr wrap="square" anchor="ctr" anchorCtr="0">
            <a:spAutoFit/>
          </a:bodyPr>
          <a:lst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GB" sz="6000">
                <a:latin typeface="+mj-lt"/>
              </a:rPr>
              <a:t>Your feedback matters.</a:t>
            </a:r>
          </a:p>
          <a:p>
            <a:pPr>
              <a:spcBef>
                <a:spcPts val="2400"/>
              </a:spcBef>
            </a:pPr>
            <a:r>
              <a:rPr lang="en-DE" sz="4000"/>
              <a:t>Share your thoughts on this session.</a:t>
            </a:r>
            <a:endParaRPr lang="en-US" sz="4000"/>
          </a:p>
        </p:txBody>
      </p:sp>
      <p:pic>
        <p:nvPicPr>
          <p:cNvPr id="7" name="Picture 6">
            <a:extLst>
              <a:ext uri="{FF2B5EF4-FFF2-40B4-BE49-F238E27FC236}">
                <a16:creationId xmlns:a16="http://schemas.microsoft.com/office/drawing/2014/main" id="{5E9DAC2F-2EC1-3724-DC03-CC9E58E77A92}"/>
              </a:ext>
            </a:extLst>
          </p:cNvPr>
          <p:cNvPicPr>
            <a:picLocks noChangeAspect="1"/>
          </p:cNvPicPr>
          <p:nvPr/>
        </p:nvPicPr>
        <p:blipFill>
          <a:blip r:embed="rId3"/>
          <a:stretch>
            <a:fillRect/>
          </a:stretch>
        </p:blipFill>
        <p:spPr>
          <a:xfrm>
            <a:off x="8380424" y="1717207"/>
            <a:ext cx="3417732" cy="3417730"/>
          </a:xfrm>
          <a:prstGeom prst="rect">
            <a:avLst/>
          </a:prstGeom>
        </p:spPr>
      </p:pic>
    </p:spTree>
    <p:extLst>
      <p:ext uri="{BB962C8B-B14F-4D97-AF65-F5344CB8AC3E}">
        <p14:creationId xmlns:p14="http://schemas.microsoft.com/office/powerpoint/2010/main" val="1013292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D1CBD1B6-37E1-C8FC-4EAB-EA32B2A09703}"/>
              </a:ext>
            </a:extLst>
          </p:cNvPr>
          <p:cNvSpPr>
            <a:spLocks noGrp="1"/>
          </p:cNvSpPr>
          <p:nvPr>
            <p:ph type="body" sz="quarter" idx="10"/>
          </p:nvPr>
        </p:nvSpPr>
        <p:spPr/>
        <p:txBody>
          <a:bodyPr/>
          <a:lstStyle/>
          <a:p>
            <a:endParaRPr lang="en-DE" sz="1400"/>
          </a:p>
          <a:p>
            <a:r>
              <a:rPr lang="en-DE" sz="1400" err="1"/>
              <a:t>Rithivika</a:t>
            </a:r>
            <a:r>
              <a:rPr lang="en-DE" sz="1400"/>
              <a:t> Acharya</a:t>
            </a:r>
          </a:p>
          <a:p>
            <a:r>
              <a:rPr lang="en-DE" sz="1400"/>
              <a:t>Neetha Pucknat</a:t>
            </a:r>
          </a:p>
          <a:p>
            <a:r>
              <a:rPr lang="en-DE" sz="1400"/>
              <a:t>San Tran</a:t>
            </a:r>
          </a:p>
          <a:p>
            <a:endParaRPr lang="en-DE" sz="1400"/>
          </a:p>
          <a:p>
            <a:r>
              <a:rPr lang="en-US" sz="1400"/>
              <a:t>Product Management</a:t>
            </a:r>
            <a:br>
              <a:rPr lang="en-US" sz="1400"/>
            </a:br>
            <a:r>
              <a:rPr lang="en-US" sz="1400"/>
              <a:t>SAP Business Data Cloud </a:t>
            </a:r>
          </a:p>
        </p:txBody>
      </p:sp>
      <p:sp>
        <p:nvSpPr>
          <p:cNvPr id="4" name="Textplatzhalter 3">
            <a:extLst>
              <a:ext uri="{FF2B5EF4-FFF2-40B4-BE49-F238E27FC236}">
                <a16:creationId xmlns:a16="http://schemas.microsoft.com/office/drawing/2014/main" id="{8BFC4A41-7339-6E38-FCE6-F769578CC538}"/>
              </a:ext>
            </a:extLst>
          </p:cNvPr>
          <p:cNvSpPr>
            <a:spLocks noGrp="1"/>
          </p:cNvSpPr>
          <p:nvPr>
            <p:ph type="body" sz="quarter" idx="11"/>
          </p:nvPr>
        </p:nvSpPr>
        <p:spPr/>
        <p:txBody>
          <a:bodyPr/>
          <a:lstStyle/>
          <a:p>
            <a:r>
              <a:rPr lang="en-US"/>
              <a:t>Contact information</a:t>
            </a:r>
          </a:p>
        </p:txBody>
      </p:sp>
    </p:spTree>
    <p:extLst>
      <p:ext uri="{BB962C8B-B14F-4D97-AF65-F5344CB8AC3E}">
        <p14:creationId xmlns:p14="http://schemas.microsoft.com/office/powerpoint/2010/main" val="3661108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192B08-91CA-0821-B514-46C1067BFF8E}"/>
              </a:ext>
            </a:extLst>
          </p:cNvPr>
          <p:cNvSpPr>
            <a:spLocks noGrp="1"/>
          </p:cNvSpPr>
          <p:nvPr>
            <p:ph type="title"/>
          </p:nvPr>
        </p:nvSpPr>
        <p:spPr/>
        <p:txBody>
          <a:bodyPr/>
          <a:lstStyle/>
          <a:p>
            <a:r>
              <a:rPr lang="en-US" sz="1800">
                <a:latin typeface="+mn-lt"/>
              </a:rPr>
              <a:t>DA26</a:t>
            </a:r>
            <a:r>
              <a:rPr lang="en-DE" sz="1800">
                <a:latin typeface="+mn-lt"/>
              </a:rPr>
              <a:t>6</a:t>
            </a:r>
            <a:br>
              <a:rPr lang="en-US"/>
            </a:br>
            <a:r>
              <a:rPr lang="en-US"/>
              <a:t>Operationalizing AI with SAP Databricks in SAP Business Data Cloud</a:t>
            </a:r>
            <a:endParaRPr lang="de-DE">
              <a:latin typeface="72 Brand Light" panose="020B0304030603020204" pitchFamily="34" charset="0"/>
            </a:endParaRPr>
          </a:p>
        </p:txBody>
      </p:sp>
      <p:sp>
        <p:nvSpPr>
          <p:cNvPr id="3" name="Textplatzhalter 2">
            <a:extLst>
              <a:ext uri="{FF2B5EF4-FFF2-40B4-BE49-F238E27FC236}">
                <a16:creationId xmlns:a16="http://schemas.microsoft.com/office/drawing/2014/main" id="{CBF3AC49-F929-5FA6-2C2C-503CB6C2827B}"/>
              </a:ext>
            </a:extLst>
          </p:cNvPr>
          <p:cNvSpPr>
            <a:spLocks noGrp="1"/>
          </p:cNvSpPr>
          <p:nvPr>
            <p:ph type="body" sz="quarter" idx="23"/>
          </p:nvPr>
        </p:nvSpPr>
        <p:spPr>
          <a:xfrm>
            <a:off x="293337" y="3703513"/>
            <a:ext cx="4271575" cy="827390"/>
          </a:xfrm>
        </p:spPr>
        <p:txBody>
          <a:bodyPr>
            <a:normAutofit/>
          </a:bodyPr>
          <a:lstStyle/>
          <a:p>
            <a:r>
              <a:rPr lang="en-DE" err="1"/>
              <a:t>Rithivika</a:t>
            </a:r>
            <a:r>
              <a:rPr lang="en-DE"/>
              <a:t> Acharya</a:t>
            </a:r>
          </a:p>
          <a:p>
            <a:r>
              <a:rPr lang="en-DE"/>
              <a:t>Neetha Pucknat</a:t>
            </a:r>
          </a:p>
          <a:p>
            <a:r>
              <a:rPr lang="en-DE"/>
              <a:t>San Tran</a:t>
            </a:r>
          </a:p>
        </p:txBody>
      </p:sp>
      <p:sp>
        <p:nvSpPr>
          <p:cNvPr id="4" name="Textplatzhalter 3">
            <a:extLst>
              <a:ext uri="{FF2B5EF4-FFF2-40B4-BE49-F238E27FC236}">
                <a16:creationId xmlns:a16="http://schemas.microsoft.com/office/drawing/2014/main" id="{67814C3B-FC4F-4566-44F1-276700799D92}"/>
              </a:ext>
            </a:extLst>
          </p:cNvPr>
          <p:cNvSpPr>
            <a:spLocks noGrp="1"/>
          </p:cNvSpPr>
          <p:nvPr>
            <p:ph type="body" sz="quarter" idx="25"/>
          </p:nvPr>
        </p:nvSpPr>
        <p:spPr>
          <a:xfrm>
            <a:off x="293337" y="4623706"/>
            <a:ext cx="4271575" cy="664801"/>
          </a:xfrm>
        </p:spPr>
        <p:txBody>
          <a:bodyPr/>
          <a:lstStyle/>
          <a:p>
            <a:r>
              <a:rPr lang="en-DE"/>
              <a:t>Product Management, SAP Business Data Cloud</a:t>
            </a:r>
            <a:br>
              <a:rPr lang="en-DE"/>
            </a:br>
            <a:r>
              <a:rPr lang="de-DE"/>
              <a:t>November 2025</a:t>
            </a:r>
          </a:p>
        </p:txBody>
      </p:sp>
    </p:spTree>
    <p:extLst>
      <p:ext uri="{BB962C8B-B14F-4D97-AF65-F5344CB8AC3E}">
        <p14:creationId xmlns:p14="http://schemas.microsoft.com/office/powerpoint/2010/main" val="2115955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55D2-CE52-221E-B27C-48ACE6A8250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CA09B1D-5DAE-3D09-379F-EC13254E24C9}"/>
              </a:ext>
            </a:extLst>
          </p:cNvPr>
          <p:cNvSpPr>
            <a:spLocks noGrp="1"/>
          </p:cNvSpPr>
          <p:nvPr>
            <p:ph type="body" sz="quarter" idx="10"/>
          </p:nvPr>
        </p:nvSpPr>
        <p:spPr/>
        <p:txBody>
          <a:bodyPr/>
          <a:lstStyle/>
          <a:p>
            <a:r>
              <a:rPr lang="en-US" b="1" kern="0">
                <a:latin typeface="72 Brand" panose="020B0504030603020204" pitchFamily="34" charset="0"/>
                <a:ea typeface="Arial Unicode MS" pitchFamily="34" charset="-128"/>
                <a:cs typeface="72" panose="020B0503030000000003" pitchFamily="34" charset="0"/>
              </a:rPr>
              <a:t>What are the requirements and where to find the materials?</a:t>
            </a:r>
            <a:endParaRPr lang="en-US" sz="4800">
              <a:latin typeface="72 Brand" panose="020B0504030603020204" pitchFamily="34" charset="0"/>
              <a:cs typeface="72" panose="020B0503030000000003" pitchFamily="34" charset="0"/>
            </a:endParaRPr>
          </a:p>
        </p:txBody>
      </p:sp>
    </p:spTree>
    <p:extLst>
      <p:ext uri="{BB962C8B-B14F-4D97-AF65-F5344CB8AC3E}">
        <p14:creationId xmlns:p14="http://schemas.microsoft.com/office/powerpoint/2010/main" val="34792927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1_SAP TechEd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_TechEd_2025_Template_PUBLIC-A" id="{10D49F29-D161-9B49-891D-783B4CCEE81C}" vid="{B5706E98-A1C5-AD4D-ADAB-E5326EFA2E9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Override1.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2.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3.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4.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5.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6.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29CC49D662D9438044480D18A7A079" ma:contentTypeVersion="19" ma:contentTypeDescription="Create a new document." ma:contentTypeScope="" ma:versionID="29b2720c227746ca1802b7934340d77a">
  <xsd:schema xmlns:xsd="http://www.w3.org/2001/XMLSchema" xmlns:xs="http://www.w3.org/2001/XMLSchema" xmlns:p="http://schemas.microsoft.com/office/2006/metadata/properties" xmlns:ns2="6a8ee7f9-826f-4e47-9dc5-56dd8d6ed408" xmlns:ns3="64258341-33cf-48fc-b8f0-d1f2c418d843" targetNamespace="http://schemas.microsoft.com/office/2006/metadata/properties" ma:root="true" ma:fieldsID="a8ba6c399f0f9927908fb660a1ff469f" ns2:_="" ns3:_="">
    <xsd:import namespace="6a8ee7f9-826f-4e47-9dc5-56dd8d6ed408"/>
    <xsd:import namespace="64258341-33cf-48fc-b8f0-d1f2c418d8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8ee7f9-826f-4e47-9dc5-56dd8d6ed4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258341-33cf-48fc-b8f0-d1f2c418d84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59d535-f8f3-407b-b005-1086afef476f}" ma:internalName="TaxCatchAll" ma:showField="CatchAllData" ma:web="64258341-33cf-48fc-b8f0-d1f2c418d8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FormConfiguration><![CDATA[{"formFields":[],"formDataEntries":[]}]]></TemplafySlideFormConfiguration>
</file>

<file path=customXml/item4.xml><?xml version="1.0" encoding="utf-8"?>
<TemplafySlideTemplateConfiguration><![CDATA[{"slideVersion":17,"isValidatorEnabled":false,"isLocked":false,"elementsMetadata":[],"slideId":"638331234102931200","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TemplateConfiguration><![CDATA[{"slideVersion":18,"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White}}","visibility":"","type":"image","disableUpdates":false}},{"type":"shape","elementConfiguration":{"binding":"{{Form.Classification.Display}}","visibility":"","type":"text","disableUpdates":false}}],"slideId":"638331234102692406","enableDocumentContentUpdater":false,"version":"2.0"}]]></TemplafySlideTemplateConfiguration>
</file>

<file path=customXml/item7.xml><?xml version="1.0" encoding="utf-8"?>
<TemplafyTemplateConfiguration><![CDATA[{"elementsMetadata":[{"type":"shape","id":"3f0b8b37-260a-4498-93b8-315483b1dcd9","elementConfiguration":{"binding":"{{ DataSources.Classification[Form.Classification.Name].Display}}","type":"text","disableUpdates":false}},{"type":"shape","id":"290322f9-1797-4b4d-8043-942607235499","elementConfiguration":{"inheritDimensions":"{{InheritDimensions.InheritNone}}","width":"","height":"1 cm","image":"{{Form.SAPLogo.SubbrandBlue}}","visibility":"","type":"image","disableUpdates":false}},{"type":"shape","id":"74f902db-19ce-473e-a6ef-bfcbbe21a93e","elementConfiguration":{"binding":"{{Form.Classification.Display}}","visibility":"","type":"text","disableUpdates":false}},{"type":"shape","id":"15a0c36e-cfcd-42f4-8d96-f48f504a4dda","elementConfiguration":{"binding":"{{Form.Classification.Display}}","visibility":"","type":"text","disableUpdates":false}},{"type":"shape","id":"f018ab10-9877-4c1a-903d-8e20a0516ebf","elementConfiguration":{"inheritDimensions":"{{InheritDimensions.InheritNone}}","width":"","height":"1 cm","image":"{{Form.SAPLogo.SubbrandBlack}}","visibility":"","type":"image","disableUpdates":false}},{"type":"shape","id":"819aee73-a0a2-4380-a436-a557525fa29d","elementConfiguration":{"inheritDimensions":"{{InheritDimensions.InheritNone}}","width":"","height":"1 cm","image":"{{Form.SAPLogo.SubbrandWhite}}","visibility":"","type":"image","disableUpdates":false}},{"type":"shape","id":"281de79b-cce6-4308-a6d3-2c16a47ae934","elementConfiguration":{"binding":"{{Form.Classification.Display}}","visibility":"","type":"text","disableUpdates":false}},{"type":"shape","id":"31fb104a-4bd2-4be1-990c-9956a246a6a6","elementConfiguration":{"inheritDimensions":"{{InheritDimensions.InheritNone}}","width":"","height":"1 cm","image":"{{Form.SAPLogo.SubbrandBlue}}","visibility":"","type":"image","disableUpdates":false}},{"type":"shape","id":"dd500091-516e-4e09-935d-a8446760ab37","elementConfiguration":{"binding":"{{Form.Classification.Display}}","visibility":"","type":"text","disableUpdates":false}},{"type":"shape","id":"b86c6774-bfb5-42ce-af29-ad7c8e956cc6","elementConfiguration":{"inheritDimensions":"{{InheritDimensions.InheritNone}}","width":"","height":"1 cm","image":"{{Form.SAPLogo.SubbrandBlue}}","visibility":"","type":"image","disableUpdates":false}},{"type":"shape","id":"a4489086-5ad1-4eb9-8912-a3dfda15f59c","elementConfiguration":{"binding":"{{Form.Classification.Display}}","visibility":"","type":"text","disableUpdates":false}},{"type":"shape","id":"77d39480-6bb2-4f9e-b166-58e397c730ef","elementConfiguration":{"inheritDimensions":"{{InheritDimensions.InheritNone}}","width":"","height":"1 cm","image":"{{Form.SAPLogo.SubbrandBlue}}","visibility":"","type":"image","disableUpdates":false}},{"type":"shape","id":"c215a143-e24c-42fe-8717-bcd7348f576e","elementConfiguration":{"binding":"{{Form.Classification.Display}}","visibility":"","type":"text","disableUpdates":false}},{"type":"shape","id":"4df62b98-d4a2-4d63-b8e0-3801bf727202","elementConfiguration":{"inheritDimensions":"{{InheritDimensions.InheritNone}}","width":"","height":"1 cm","image":"{{Form.SAPLogo.SubbrandWhite}}","visibility":"","type":"image","disableUpdates":false}},{"type":"shape","id":"8cba19fe-2e13-48e5-b14b-92c3761b1d34","elementConfiguration":{"binding":"{{Form.Classification.Display}}","visibility":"","type":"text","disableUpdates":false}},{"type":"shape","id":"27f15a2f-efbf-4b45-a883-cb50c003bc42","elementConfiguration":{"binding":"{{DataSources.PPTCopyRight[\"Slide 5 copyright\"].CopyrightMessage}}","visibility":"","type":"text","disableUpdates":false}},{"type":"shape","id":"c55a38a9-de1b-495a-8b58-131e1d52fd54","elementConfiguration":{"inheritDimensions":"{{InheritDimensions.InheritNone}}","width":"","height":"1 cm","image":"{{Form.SAPLogo.SubbrandBlack}}","visibility":"","type":"image","disableUpdates":false}},{"type":"shape","id":"874250cf-0daf-4fd4-8228-464988deba1e","elementConfiguration":{"binding":"{{Form.Classification.Display}}","visibility":"","type":"text","disableUpdates":false}},{"type":"shape","id":"d4065cf0-3d7d-4421-8dd7-4a927a682008","elementConfiguration":{"inheritDimensions":"{{InheritDimensions.InheritNone}}","width":"","height":"1 cm","image":"{{Form.SAPLogo.SubbrandWhite}}","visibility":"","type":"image","disableUpdates":false}},{"type":"shape","id":"79cac289-6949-46c4-afc6-3b10b6515444","elementConfiguration":{"binding":"{{Form.Classification.Display}}","visibility":"","type":"text","disableUpdates":false}},{"type":"shape","id":"65841d7c-a25a-482e-8a0b-399fe2060e85","elementConfiguration":{"inheritDimensions":"{{InheritDimensions.InheritNone}}","width":"","height":"1 cm","image":"{{Form.SAPLogo.SubbrandBlack}}","visibility":"","type":"image","disableUpdates":false}},{"type":"shape","id":"9a099f80-0352-4bc9-9d82-a824546006f3","elementConfiguration":{"binding":"{{Form.Classification.Display}}","visibility":"","type":"text","disableUpdates":false}},{"type":"shape","id":"a0696034-9670-4d7b-a80a-e5801256b450","elementConfiguration":{"inheritDimensions":"{{InheritDimensions.InheritNone}}","width":"","height":"1 cm","image":"{{Form.SAPLogo.SubbrandWhite}}","visibility":"","type":"image","disableUpdates":false}},{"type":"shape","id":"efe1d89f-eade-44b0-a576-0c0f42301897","elementConfiguration":{"binding":"{{Form.Classification.Display}}","visibility":"","type":"text","disableUpdates":false}},{"type":"shape","id":"57053213-140f-42e4-b279-3aff034a8e0b","elementConfiguration":{"inheritDimensions":"{{InheritDimensions.InheritNone}}","width":"","height":"1 cm","image":"{{Form.SAPLogo.SubbrandWhite}}","visibility":"","type":"image","disableUpdates":false}},{"type":"shape","id":"d79d039e-49b3-4324-b9e4-2a15bf644364","elementConfiguration":{"binding":"{{Form.Classification.Display}}","visibility":"","type":"text","disableUpdates":false}},{"type":"shape","id":"c329a080-8cac-45b3-9090-29e32358fc6a","elementConfiguration":{"binding":"{{StringJoin(\", \", Form.SpeakerName,\"SAP\")}}","type":"text","disableUpdates":false}},{"type":"shape","id":"036a9aaf-43e1-4444-ab2f-2c19850121cf","elementConfiguration":{"binding":"{{FormatDateTime(Form.Date,\"MMMM dd, yyyy\",\"en-US\")}}","type":"text","disableUpdates":false}},{"type":"shape","id":"473c97bd-6527-4a05-b5f4-5c152564332e","elementConfiguration":{"binding":"{{StringJoin(\", \", Form.SpeakerName,\"SAP\")}}","type":"text","disableUpdates":false}},{"type":"shape","id":"759f30db-fd7e-4644-9268-245a52a87c4a","elementConfiguration":{"binding":"{{FormatDateTime(Form.Date,\"MMMM dd, yyyy\",\"en-US\")}}","type":"text","disableUpdates":false}},{"type":"shape","id":"fde02d00-ce80-4365-9d9b-bf7e02a1508f","elementConfiguration":{"binding":"{{StringJoin(\", \", Form.SpeakerName,\"SAP\")}}","type":"text","disableUpdates":false}},{"type":"shape","id":"cbb0b46e-43e3-433e-b41e-bd146292a8c7","elementConfiguration":{"binding":"{{FormatDateTime(Form.Date,\"MMMM dd, yyyy\",\"en-US\")}}","type":"text","disableUpdates":false}},{"type":"shape","id":"fc45eda2-9531-4c18-9e5b-851b689cb53d","elementConfiguration":{"binding":"{{StringJoin(\", \", Form.SpeakerName,\"SAP\")}}","type":"text","disableUpdates":false}},{"type":"shape","id":"075e6c73-5362-4a19-b37f-56f1675ff574","elementConfiguration":{"binding":"{{FormatDateTime(Form.Date,\"MMMM dd, yyyy\",\"en-US\")}}","type":"text","disableUpdates":false}},{"type":"shape","id":"52894cf0-968a-4afd-9cde-8550dd0fba68","elementConfiguration":{"binding":"{{StringJoin(\", \", Form.SpeakerName,\"SAP\")}}","type":"text","disableUpdates":false}},{"type":"shape","id":"8f89bd7f-10f8-43e3-8d2c-478085b4aae4","elementConfiguration":{"binding":"{{FormatDateTime(Form.Date,\"MMMM dd, yyyy\",\"en-US\")}}","type":"text","disableUpdates":false}},{"type":"shape","id":"8d9e1e6e-f3bd-4759-9efc-58b4b54479c2","elementConfiguration":{"binding":"{{StringJoin(\", \", Form.SpeakerName,\"SAP\")}}","type":"text","disableUpdates":false}},{"type":"shape","id":"416bc492-2ab1-4b95-8e4d-7e2d411f8372","elementConfiguration":{"binding":"{{FormatDateTime(Form.Date,\"MMMM dd, yyyy\",\"en-US\")}}","type":"text","disableUpdates":false}},{"type":"shape","id":"91ea2ed7-0f81-4e49-99ea-28c092a71883","elementConfiguration":{"binding":"{{Form.SpeakerName}}","type":"text","disableUpdates":false}},{"type":"shape","id":"3698467b-0ce9-4ef0-a8f2-89030f025514","elementConfiguration":{"binding":"{{Form.Email}}","type":"text","disableUpdates":false}}],"transformationConfigurations":[],"templateName":"SAP Template NEW","templateDescription":"","enableDocumentContentUpdater":true,"version":"2.0"}]]></TemplafyTemplateConfiguration>
</file>

<file path=customXml/item8.xml><?xml version="1.0" encoding="utf-8"?>
<Templafy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Email}}","shareValue":false,"type":"textBox","name":"Email","label":"Email"}],"formDataEntries":[{"name":"SAPLogo","value":"pxB0tb4qiCEYCgGk2fAV86fXsKRk9ZMKiRC3VaLJ5C8="},{"name":"Classification","value":"OmrOP8d402txjl1Zr787gUA6bTWeMdaxGEF9U5BKD64="},{"name":"SpeakerName","value":"YnPwfaWtJd9yqRikMcavEg=="},{"name":"Email","value":"v35+JSpO6F5yjM5PrFdVwQ=="}]}]]></TemplafyFormConfiguration>
</file>

<file path=customXml/item9.xml><?xml version="1.0" encoding="utf-8"?>
<p:properties xmlns:p="http://schemas.microsoft.com/office/2006/metadata/properties" xmlns:xsi="http://www.w3.org/2001/XMLSchema-instance" xmlns:pc="http://schemas.microsoft.com/office/infopath/2007/PartnerControls">
  <documentManagement>
    <lcf76f155ced4ddcb4097134ff3c332f xmlns="6a8ee7f9-826f-4e47-9dc5-56dd8d6ed408">
      <Terms xmlns="http://schemas.microsoft.com/office/infopath/2007/PartnerControls"/>
    </lcf76f155ced4ddcb4097134ff3c332f>
    <TaxCatchAll xmlns="64258341-33cf-48fc-b8f0-d1f2c418d843" xsi:nil="true"/>
  </documentManagement>
</p:properties>
</file>

<file path=customXml/item10.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11.xml><?xml version="1.0" encoding="utf-8"?>
<TemplafySlideTemplateConfiguration><![CDATA[{"slideVersion":17,"isValidatorEnabled":false,"isLocked":false,"elementsMetadata":[],"slideId":"638331234102931200","enableDocumentContentUpdater":false,"version":"2.0"}]]></TemplafySlideTemplateConfiguration>
</file>

<file path=customXml/itemProps1.xml><?xml version="1.0" encoding="utf-8"?>
<ds:datastoreItem xmlns:ds="http://schemas.openxmlformats.org/officeDocument/2006/customXml" ds:itemID="{A7BFCAAC-1FB0-4471-8121-07F86BA1F413}">
  <ds:schemaRefs>
    <ds:schemaRef ds:uri="64258341-33cf-48fc-b8f0-d1f2c418d843"/>
    <ds:schemaRef ds:uri="6a8ee7f9-826f-4e47-9dc5-56dd8d6ed4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3.xml><?xml version="1.0" encoding="utf-8"?>
<ds:datastoreItem xmlns:ds="http://schemas.openxmlformats.org/officeDocument/2006/customXml" ds:itemID="{857A434E-50B8-43E0-9F10-FCFDC36C158A}">
  <ds:schemaRefs/>
</ds:datastoreItem>
</file>

<file path=customXml/itemProps4.xml><?xml version="1.0" encoding="utf-8"?>
<ds:datastoreItem xmlns:ds="http://schemas.openxmlformats.org/officeDocument/2006/customXml" ds:itemID="{97E3BD22-8559-41C7-B32B-85AADBCE3220}">
  <ds:schemaRefs/>
</ds:datastoreItem>
</file>

<file path=customXml/itemProps5.xml><?xml version="1.0" encoding="utf-8"?>
<ds:datastoreItem xmlns:ds="http://schemas.openxmlformats.org/officeDocument/2006/customXml" ds:itemID="{7F6898E6-9ADD-4538-B0E5-FC21C8DB6903}">
  <ds:schemaRefs/>
</ds:datastoreItem>
</file>

<file path=customXml/itemProps6.xml><?xml version="1.0" encoding="utf-8"?>
<ds:datastoreItem xmlns:ds="http://schemas.openxmlformats.org/officeDocument/2006/customXml" ds:itemID="{E592BBB8-4E80-3C45-BEE9-486ED596EB3C}">
  <ds:schemaRefs/>
</ds:datastoreItem>
</file>

<file path=customXml/itemProps7.xml><?xml version="1.0" encoding="utf-8"?>
<ds:datastoreItem xmlns:ds="http://schemas.openxmlformats.org/officeDocument/2006/customXml" ds:itemID="{626BBCBB-1894-4E66-BA48-9E91CE3ACBA0}">
  <ds:schemaRefs/>
</ds:datastoreItem>
</file>

<file path=customXml/itemProps8.xml><?xml version="1.0" encoding="utf-8"?>
<ds:datastoreItem xmlns:ds="http://schemas.openxmlformats.org/officeDocument/2006/customXml" ds:itemID="{CC49FFC8-2FF3-4057-96F0-3BCD1A4F0351}">
  <ds:schemaRefs/>
</ds:datastoreItem>
</file>

<file path=customXml/itemProps9.xml><?xml version="1.0" encoding="utf-8"?>
<ds:datastoreItem xmlns:ds="http://schemas.openxmlformats.org/officeDocument/2006/customXml" ds:itemID="{C1422F45-04DB-421D-8796-270006657806}">
  <ds:schemaRefs>
    <ds:schemaRef ds:uri="64258341-33cf-48fc-b8f0-d1f2c418d843"/>
    <ds:schemaRef ds:uri="6a8ee7f9-826f-4e47-9dc5-56dd8d6ed40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0.xml><?xml version="1.0" encoding="utf-8"?>
<ds:datastoreItem xmlns:ds="http://schemas.openxmlformats.org/officeDocument/2006/customXml" ds:itemID="{77EBBC25-7217-6047-A6FE-6E3834623618}">
  <ds:schemaRefs/>
</ds:datastoreItem>
</file>

<file path=customXml/itemProps11.xml><?xml version="1.0" encoding="utf-8"?>
<ds:datastoreItem xmlns:ds="http://schemas.openxmlformats.org/officeDocument/2006/customXml" ds:itemID="{293D9B4C-8BBF-4BFA-999D-F8B7D67B0A31}">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emplate>PUBLIC_PowerPoint Template_SAP TechEd 2025</Template>
  <TotalTime>8</TotalTime>
  <Words>810</Words>
  <Application>Microsoft Macintosh PowerPoint</Application>
  <PresentationFormat>Custom</PresentationFormat>
  <Paragraphs>155</Paragraphs>
  <Slides>10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72 Brand</vt:lpstr>
      <vt:lpstr>Courier New</vt:lpstr>
      <vt:lpstr>72</vt:lpstr>
      <vt:lpstr>Symbol</vt:lpstr>
      <vt:lpstr>Arial</vt:lpstr>
      <vt:lpstr>72 Brand Light</vt:lpstr>
      <vt:lpstr>wingdings</vt:lpstr>
      <vt:lpstr>72 Brand Medium</vt:lpstr>
      <vt:lpstr>Cascadia Code</vt:lpstr>
      <vt:lpstr>wingdings</vt:lpstr>
      <vt:lpstr>1_SAP TechEd Template</vt:lpstr>
      <vt:lpstr>PowerPoint Presentation</vt:lpstr>
      <vt:lpstr>PowerPoint Presentation</vt:lpstr>
      <vt:lpstr>PowerPoint Presentation</vt:lpstr>
      <vt:lpstr>02 What are the requirements and where to find the materials?</vt:lpstr>
      <vt:lpstr>Setting the python environment for the exercises</vt:lpstr>
      <vt:lpstr>How to upload the notebook </vt:lpstr>
      <vt:lpstr>PowerPoint Presentation</vt:lpstr>
      <vt:lpstr>PowerPoint Presentation</vt:lpstr>
      <vt:lpstr>DA266 Operationalizing AI with SAP Databricks in SAP Business Data Cloud</vt:lpstr>
      <vt:lpstr>PowerPoint Presentation</vt:lpstr>
    </vt:vector>
  </TitlesOfParts>
  <Manager/>
  <Company>SAP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Sauer, Klaus-Peter</dc:creator>
  <cp:keywords/>
  <dc:description/>
  <cp:lastModifiedBy>Pucknat, Neetha</cp:lastModifiedBy>
  <cp:revision>21</cp:revision>
  <dcterms:created xsi:type="dcterms:W3CDTF">2025-09-23T14:30:26Z</dcterms:created>
  <dcterms:modified xsi:type="dcterms:W3CDTF">2026-03-11T08:54:02Z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PreviousAdHocReviewCycleID">
    <vt:i4>1357826825</vt:i4>
  </property>
  <property fmtid="{D5CDD505-2E9C-101B-9397-08002B2CF9AE}" pid="6" name="ContentTypeId">
    <vt:lpwstr>0x0101008629CC49D662D9438044480D18A7A079</vt:lpwstr>
  </property>
  <property fmtid="{D5CDD505-2E9C-101B-9397-08002B2CF9AE}" pid="7" name="TemplafyTimeStamp">
    <vt:lpwstr>2024-09-17T07:55:49</vt:lpwstr>
  </property>
  <property fmtid="{D5CDD505-2E9C-101B-9397-08002B2CF9AE}" pid="8" name="TemplafyTenantId">
    <vt:lpwstr>sap</vt:lpwstr>
  </property>
  <property fmtid="{D5CDD505-2E9C-101B-9397-08002B2CF9AE}" pid="9" name="TemplafyTemplateId">
    <vt:lpwstr>743088030174412800</vt:lpwstr>
  </property>
  <property fmtid="{D5CDD505-2E9C-101B-9397-08002B2CF9AE}" pid="10" name="TemplafyUserProfileId">
    <vt:lpwstr>637653955260011855</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